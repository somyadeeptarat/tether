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cde044549437a" /><Relationship Type="http://schemas.openxmlformats.org/officeDocument/2006/relationships/extended-properties" Target="/docProps/app.xml" Id="R48aed70a6977474a" /><Relationship Type="http://schemas.openxmlformats.org/officeDocument/2006/relationships/officeDocument" Target="/ppt/presentation.xml" Id="R6f0efe08cfa9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4e0392b3f4fc6"/>
  </p:sldMasterIdLst>
  <p:notesMasterIdLst>
    <p:notesMasterId xmlns:r="http://schemas.openxmlformats.org/officeDocument/2006/relationships" r:id="R703c57581f174049"/>
  </p:notesMasterIdLst>
  <p:sldIdLst>
    <p:sldId xmlns:r="http://schemas.openxmlformats.org/officeDocument/2006/relationships" id="256" r:id="Rfc4db458e51744c1"/>
    <p:sldId xmlns:r="http://schemas.openxmlformats.org/officeDocument/2006/relationships" id="257" r:id="R1be21ad392ac4ea4"/>
    <p:sldId xmlns:r="http://schemas.openxmlformats.org/officeDocument/2006/relationships" id="258" r:id="Rf1ed5d568eb9430f"/>
    <p:sldId xmlns:r="http://schemas.openxmlformats.org/officeDocument/2006/relationships" id="259" r:id="R155dfd6797fd467f"/>
    <p:sldId xmlns:r="http://schemas.openxmlformats.org/officeDocument/2006/relationships" id="260" r:id="R729efc03b1e940b9"/>
    <p:sldId xmlns:r="http://schemas.openxmlformats.org/officeDocument/2006/relationships" id="261" r:id="R23a3a596920c4d8a"/>
    <p:sldId xmlns:r="http://schemas.openxmlformats.org/officeDocument/2006/relationships" id="262" r:id="Rb1763b8007564d37"/>
    <p:sldId xmlns:r="http://schemas.openxmlformats.org/officeDocument/2006/relationships" id="263" r:id="Rde5dfa57a6de49d7"/>
    <p:sldId xmlns:r="http://schemas.openxmlformats.org/officeDocument/2006/relationships" id="264" r:id="R85301484bc2c4e0d"/>
    <p:sldId xmlns:r="http://schemas.openxmlformats.org/officeDocument/2006/relationships" id="265" r:id="Rec04d59177e9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7231d2c524277" /><Relationship Type="http://schemas.openxmlformats.org/officeDocument/2006/relationships/slideMaster" Target="/ppt/slideMasters/slideMaster1.xml" Id="R1cc4e0392b3f4fc6" /><Relationship Type="http://schemas.openxmlformats.org/officeDocument/2006/relationships/notesMaster" Target="/ppt/notesMasters/notesMaster1.xml" Id="R703c57581f174049" /><Relationship Type="http://schemas.openxmlformats.org/officeDocument/2006/relationships/presProps" Target="/ppt/presProps.xml" Id="Reac5386c0d8449b0" /><Relationship Type="http://schemas.openxmlformats.org/officeDocument/2006/relationships/tableStyles" Target="/ppt/tableStyles.xml" Id="Rf14c36e34a1744a8" /><Relationship Type="http://schemas.openxmlformats.org/officeDocument/2006/relationships/slide" Target="/ppt/slides/slide1.xml" Id="Rfc4db458e51744c1" /><Relationship Type="http://schemas.openxmlformats.org/officeDocument/2006/relationships/slide" Target="/ppt/slides/slide2.xml" Id="R1be21ad392ac4ea4" /><Relationship Type="http://schemas.openxmlformats.org/officeDocument/2006/relationships/slide" Target="/ppt/slides/slide3.xml" Id="Rf1ed5d568eb9430f" /><Relationship Type="http://schemas.openxmlformats.org/officeDocument/2006/relationships/slide" Target="/ppt/slides/slide4.xml" Id="R155dfd6797fd467f" /><Relationship Type="http://schemas.openxmlformats.org/officeDocument/2006/relationships/slide" Target="/ppt/slides/slide5.xml" Id="R729efc03b1e940b9" /><Relationship Type="http://schemas.openxmlformats.org/officeDocument/2006/relationships/slide" Target="/ppt/slides/slide6.xml" Id="R23a3a596920c4d8a" /><Relationship Type="http://schemas.openxmlformats.org/officeDocument/2006/relationships/slide" Target="/ppt/slides/slide7.xml" Id="Rb1763b8007564d37" /><Relationship Type="http://schemas.openxmlformats.org/officeDocument/2006/relationships/slide" Target="/ppt/slides/slide8.xml" Id="Rde5dfa57a6de49d7" /><Relationship Type="http://schemas.openxmlformats.org/officeDocument/2006/relationships/slide" Target="/ppt/slides/slide9.xml" Id="R85301484bc2c4e0d" /><Relationship Type="http://schemas.openxmlformats.org/officeDocument/2006/relationships/slide" Target="/ppt/slides/slide10.xml" Id="Rec04d59177e9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cf76b672c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73652318f4f24" /><Relationship Type="http://schemas.openxmlformats.org/officeDocument/2006/relationships/notesMaster" Target="/ppt/notesMasters/notesMaster1.xml" Id="R69f843e2225a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cdca4fbc074f2d" /><Relationship Type="http://schemas.openxmlformats.org/officeDocument/2006/relationships/notesMaster" Target="/ppt/notesMasters/notesMaster1.xml" Id="Rf762b1aa396e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83fcb7de694146" /><Relationship Type="http://schemas.openxmlformats.org/officeDocument/2006/relationships/notesMaster" Target="/ppt/notesMasters/notesMaster1.xml" Id="R66a32e9ba37a40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fd87e019b64a23" /><Relationship Type="http://schemas.openxmlformats.org/officeDocument/2006/relationships/notesMaster" Target="/ppt/notesMasters/notesMaster1.xml" Id="Raa84796064c24d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d4a4da4a814942" /><Relationship Type="http://schemas.openxmlformats.org/officeDocument/2006/relationships/notesMaster" Target="/ppt/notesMasters/notesMaster1.xml" Id="Rc4cc99f9b1f2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9d9a05eff04267" /><Relationship Type="http://schemas.openxmlformats.org/officeDocument/2006/relationships/notesMaster" Target="/ppt/notesMasters/notesMaster1.xml" Id="R522abe8763e54f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946c84829c409c" /><Relationship Type="http://schemas.openxmlformats.org/officeDocument/2006/relationships/notesMaster" Target="/ppt/notesMasters/notesMaster1.xml" Id="R970f988c6e904e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34891f061e4ad4" /><Relationship Type="http://schemas.openxmlformats.org/officeDocument/2006/relationships/notesMaster" Target="/ppt/notesMasters/notesMaster1.xml" Id="R8c90642a93a942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dcac7228014666" /><Relationship Type="http://schemas.openxmlformats.org/officeDocument/2006/relationships/notesMaster" Target="/ppt/notesMasters/notesMaster1.xml" Id="Rf34fd008f5d040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d29d2300544db7" /><Relationship Type="http://schemas.openxmlformats.org/officeDocument/2006/relationships/notesMaster" Target="/ppt/notesMasters/notesMaster1.xml" Id="R3d196aae5b67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d65fd021740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cccc876e642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a5c7b902a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34719d33f4d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382e9066548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c3ba31d1a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A9FB5-2001-4366-AE9C-10FCDADF6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51189A-A910-4D76-8D26-A6BBDBF2D7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96CC5C-67BC-4FE2-A96E-6AB0E579E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CA246-BAAD-4624-9409-6DF49D330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6E6EE8-3BFA-450B-8EB0-5B39338B52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A39756-E039-4CB7-BAAA-D01734FDA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BDCC17-CF71-482C-8C13-4E3676B17C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22BE92-5580-4D95-B9EE-3EB6EC2111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86A1E-5BEF-4490-88BF-36F2DA114C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2281D8-A9D0-47AC-B60A-9055C75DDC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d0b3692e97436b" /><Relationship Type="http://schemas.openxmlformats.org/officeDocument/2006/relationships/slideLayout" Target="/ppt/slideLayouts/slideLayout1.xml" Id="Re6363b43ffaf423f" /><Relationship Type="http://schemas.openxmlformats.org/officeDocument/2006/relationships/slideLayout" Target="/ppt/slideLayouts/slideLayout2.xml" Id="R3a85d539cca747a2" /><Relationship Type="http://schemas.openxmlformats.org/officeDocument/2006/relationships/slideLayout" Target="/ppt/slideLayouts/slideLayout3.xml" Id="Ra796d04336a44326" /><Relationship Type="http://schemas.openxmlformats.org/officeDocument/2006/relationships/slideLayout" Target="/ppt/slideLayouts/slideLayout4.xml" Id="Re6e89950cb4b4b5a" /><Relationship Type="http://schemas.openxmlformats.org/officeDocument/2006/relationships/slideLayout" Target="/ppt/slideLayouts/slideLayout5.xml" Id="R1d64a70663d44e7f" /><Relationship Type="http://schemas.openxmlformats.org/officeDocument/2006/relationships/slideLayout" Target="/ppt/slideLayouts/slideLayout6.xml" Id="R785c2ba343bb44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63b43ffaf423f"/>
    <p:sldLayoutId xmlns:r="http://schemas.openxmlformats.org/officeDocument/2006/relationships" id="2147483650" r:id="R3a85d539cca747a2"/>
    <p:sldLayoutId xmlns:r="http://schemas.openxmlformats.org/officeDocument/2006/relationships" id="2147483651" r:id="Ra796d04336a44326"/>
    <p:sldLayoutId xmlns:r="http://schemas.openxmlformats.org/officeDocument/2006/relationships" id="2147483652" r:id="Re6e89950cb4b4b5a"/>
    <p:sldLayoutId xmlns:r="http://schemas.openxmlformats.org/officeDocument/2006/relationships" id="2147483653" r:id="R1d64a70663d44e7f"/>
    <p:sldLayoutId xmlns:r="http://schemas.openxmlformats.org/officeDocument/2006/relationships" id="2147483654" r:id="R785c2ba343bb44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474dad98347a3" /><Relationship Type="http://schemas.openxmlformats.org/officeDocument/2006/relationships/notesSlide" Target="/ppt/notesSlides/notesSlide1.xml" Id="R63ed7e696aa147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4c912485e4acd" /><Relationship Type="http://schemas.openxmlformats.org/officeDocument/2006/relationships/notesSlide" Target="/ppt/notesSlides/notesSlide2.xml" Id="Rc5ae38beae04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91b633eff4402" /><Relationship Type="http://schemas.openxmlformats.org/officeDocument/2006/relationships/notesSlide" Target="/ppt/notesSlides/notesSlide3.xml" Id="R286329225543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d50e69ef346f2" /><Relationship Type="http://schemas.openxmlformats.org/officeDocument/2006/relationships/notesSlide" Target="/ppt/notesSlides/notesSlide4.xml" Id="R2faac2ec736f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61dc202cc4d66" /><Relationship Type="http://schemas.openxmlformats.org/officeDocument/2006/relationships/notesSlide" Target="/ppt/notesSlides/notesSlide5.xml" Id="R888005d961af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c107f4aaa4244" /><Relationship Type="http://schemas.openxmlformats.org/officeDocument/2006/relationships/notesSlide" Target="/ppt/notesSlides/notesSlide6.xml" Id="Rc67618520cf742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b57b2e8454012" /><Relationship Type="http://schemas.openxmlformats.org/officeDocument/2006/relationships/notesSlide" Target="/ppt/notesSlides/notesSlide7.xml" Id="R1cf65b94b97946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3ee3d667c48f6" /><Relationship Type="http://schemas.openxmlformats.org/officeDocument/2006/relationships/notesSlide" Target="/ppt/notesSlides/notesSlide8.xml" Id="R4d058539298445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661e66b2448d0" /><Relationship Type="http://schemas.openxmlformats.org/officeDocument/2006/relationships/notesSlide" Target="/ppt/notesSlides/notesSlide9.xml" Id="R33826f237a3444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6341b7410434f" /><Relationship Type="http://schemas.openxmlformats.org/officeDocument/2006/relationships/notesSlide" Target="/ppt/notesSlides/notesSlide10.xml" Id="Rc140168fe891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CD26-6822-4316-BB80-68B1EF1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840"/>
          </a:solidFill>
          <a:ln xmlns:a="http://schemas.openxmlformats.org/drawingml/2006/main" w="0">
            <a:solidFill>
              <a:srgbClr val="2238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4717D-D6A6-4C6A-A8BD-5D11388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144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B1D2-3943-4065-A09F-82382E9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812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071"/>
          </a:solidFill>
          <a:ln xmlns:a="http://schemas.openxmlformats.org/drawingml/2006/main" w="0">
            <a:solidFill>
              <a:srgbClr val="B7F07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A353-50E1-4D7E-A029-553863A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42"/>
          </a:solidFill>
          <a:ln xmlns:a="http://schemas.openxmlformats.org/drawingml/2006/main" w="0">
            <a:solidFill>
              <a:srgbClr val="D66A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F83AB-7D35-4399-B9D2-8921996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A4449"/>
          </a:solidFill>
          <a:ln xmlns:a="http://schemas.openxmlformats.org/drawingml/2006/main" w="0">
            <a:solidFill>
              <a:srgbClr val="2A4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75FF1-64C0-42B5-9050-204FE84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481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  →  PLAN  →  REVIEW  → 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DE00C-A7D0-45EE-A0DC-73ED6A5B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TETHER  /  AI WORKFLOW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A0909-6772-453D-8CF1-3CCC143F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AI work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 course.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78BC9-3E92-4647-93A1-E6BCBA09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1D0CE"/>
                </a:solidFill>
                <a:latin typeface="Aptos"/>
                <a:ea typeface="Aptos"/>
                <a:cs typeface="Aptos"/>
              </a:rPr>
              <a:t>A persistent-goal workspace for agents: scoped plans, inspectable proposals, and human-approved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97995-BAA4-418F-BDE8-BC0C888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752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1223F-41EE-4BFA-90DB-3F6EE61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24460-B9FD-4E79-A8FE-A9CACB2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8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8B6"/>
                </a:solidFill>
                <a:latin typeface="Aptos"/>
                <a:ea typeface="Aptos"/>
                <a:cs typeface="Aptos"/>
              </a:rPr>
              <a:t>Groq API planned for inference • Current repository uses 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AFC6E-5442-4D7F-9CE2-CFBBA5B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TETHER</a:t>
            </a:r>
          </a:p>
        </p:txBody>
      </p:sp>
    </p:spTree>
    <p:extLst>
      <p:ext uri="{BB962C8B-B14F-4D97-AF65-F5344CB8AC3E}">
        <p14:creationId xmlns:p14="http://schemas.microsoft.com/office/powerpoint/2010/main" val="1852989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3A095-33A9-48C9-962B-73D9979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 /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36096-7594-4028-B668-F4C93F0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AI work can drift between sessions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5F7C-8F33-47E0-A263-0861617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Tether gives each project a durable objective and clear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A6022-CF3F-4BC6-B941-C439789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65145-F1F2-4CEC-8D32-C326FDE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FB10B-6362-4D2F-B308-241E1908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83D2-87FF-421D-854D-9773ECC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4864C-CAC0-41E9-A77E-B599981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Context resets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C0404-BEF6-4585-988D-EAD4A87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New sessions can lose the original objective and constraints.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9BF21-D33B-405C-BBCD-96261A3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A4D31-3CA8-4CA7-8DD0-7678CC43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62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9F97F-2B6D-42A1-9929-69E612B8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Scope expands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A5E3-A707-477A-A1DC-8BC1E83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A plausible request can move work beyond what was approved.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A2646-86D0-4F9D-8326-A5363CA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CAB8F-0C7A-455C-B9E6-A15AD870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62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4E49C-8C9E-46B0-88C6-3E02424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Outputs look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C43A1-3180-484C-823B-E9F146B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Generated content needs validation and a human decision before it becomes deliverable.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065BE-C8AB-44A5-B826-C1E75D4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CAF05-6BD4-4294-81FB-3B446A3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TETHER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3B681-239B-4962-A570-41BBF0B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10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Persist the goal. Bound each step. Review before committing.</a:t>
            </a:r>
          </a:p>
        </p:txBody>
      </p:sp>
    </p:spTree>
    <p:extLst>
      <p:ext uri="{BB962C8B-B14F-4D97-AF65-F5344CB8AC3E}">
        <p14:creationId xmlns:p14="http://schemas.microsoft.com/office/powerpoint/2010/main" val="97320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9E7CE-6009-4DA6-B6D6-C07B9C4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 /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52171-366B-4DD6-A6FE-BC2E1B1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One workspace. A goal that lasts.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04FED-6F81-4E64-BEB1-80FDCE84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Projects hold the approved contract, milestone plan, sessions, proposals, decisions, and committed report sections.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B3A84-1BFA-4FD4-8EDF-F58D7FB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BA45-F4E0-4F0E-B57A-E0F30CA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1FEF-98AD-4E32-9D64-7328A57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9526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6A5CC-8E6B-4755-9318-58EECF0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0496B-1AE4-4483-960B-71AA6F8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Objective +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CA2C6-014F-40BD-B3AA-CBDCF155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718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D9B67-2E5B-405D-BEE7-448D94F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57475"/>
            <a:ext cx="19526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EF11B-DBCE-4D48-80B4-178FB8A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47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380B8-0774-4163-B2A7-1CC47F03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38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Versioned topics + milestones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3128D-168C-4B17-A0D6-63D827A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9E0D2-CD8E-494B-9BC6-723715A1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57475"/>
            <a:ext cx="19526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38091-E8A2-422A-B788-E2B3097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72F0F-AC8A-483D-A0F7-4F4D7B24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Continue from saved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8B503-9DCE-41F6-91BE-CB083FB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718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57259-2C92-4842-AFE0-00C47D72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57475"/>
            <a:ext cx="19526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7065C-4FEB-4071-95BB-3512A0F8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47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2C67C-DCD8-4544-A101-E28890C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38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Inspect evidence + 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925B6-4FF1-40A0-B194-A0331F11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718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3E91A-77D5-4F78-B445-3755F8E4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19526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4DFC6-6762-4ED0-BF19-7E83BFD0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47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0AE19-2E20-45C0-A90E-8D980CA9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Committed sections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61BC2-D495-4F99-AF00-1426C38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Three user views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5CA3B-733E-469B-A1DA-7250ECE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59737-3C70-4E7F-A5B5-27DFA891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D15C6-6096-4667-B778-BD4AAD8A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Goal, milestones, agent activity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99352-29AA-4ECD-9220-2BC65EFD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38725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5EB52-043D-4438-AF04-A6BE828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530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Drift inspector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617B8-7139-43CF-9AFC-F4883A6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387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Proposal details and review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8249F-AE0C-49F5-B84C-4B2F741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A0FE49-0E69-4DD1-BFEC-38094D3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530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History &amp; 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4AE07-7964-4380-BDEF-2790DE5D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387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Contract versions and audit timeline</a:t>
            </a:r>
          </a:p>
        </p:txBody>
      </p:sp>
    </p:spTree>
    <p:extLst>
      <p:ext uri="{BB962C8B-B14F-4D97-AF65-F5344CB8AC3E}">
        <p14:creationId xmlns:p14="http://schemas.microsoft.com/office/powerpoint/2010/main" val="706267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8091F-DCDB-48DB-B7BA-4B91AD5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03 / EXECUTION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7DBDC-9036-4935-9835-D090968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controlled path from prompt to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75573-3A1D-4F00-9702-2BECE689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7C6"/>
                </a:solidFill>
                <a:latin typeface="Aptos"/>
                <a:ea typeface="Aptos"/>
                <a:cs typeface="Aptos"/>
              </a:rPr>
              <a:t>Each milestone produces a structured proposal. The system checks it before a person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C5A4B-CEA9-47E1-8607-68C39B7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19494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C30F2-BAF5-4C31-885B-E89FAE2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05FEA-93C3-4FD3-93DD-1CA05C5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572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DC849-A960-46DF-BA83-9B51288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86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0447D-F4E2-4F9F-8087-0805CDC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40ACB-5FF6-40FE-A90E-E70E0A02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76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6B0C3-79B4-4439-9F8B-FEF54E6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Use the active contract + evidence 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E4FAD-4A26-4AEA-B766-5CF31CF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0572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622B0-FF33-43C6-B54B-BA4070AC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28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99D61-9DA9-4798-BFB5-BEF214B1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593EE-E4CB-4579-9B65-83017B8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56802-3835-4129-885E-0A0FE54C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Model returns a schema-shaped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40948-AF82-453A-82C1-84224A3B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572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5DEA4-ED30-4021-9D53-9227E3AF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71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D8925-9F39-4BDB-A787-E0A667C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B4202-E853-448D-B170-F1FB4E0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2297E-365B-4462-B590-481307D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Check version, topic, milestone, sources, label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79E1D-7193-4D26-B886-49A92C34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72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F9783-2E25-4694-A9FE-526167AB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14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7F071"/>
          </a:solidFill>
          <a:ln xmlns:a="http://schemas.openxmlformats.org/drawingml/2006/main" w="0">
            <a:solidFill>
              <a:srgbClr val="B7F0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8F118-4454-4BA1-8DB5-41C411E5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624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10EAF-7C7B-4F29-8DC8-BC7183A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854B2-832A-4BA7-8FE4-9DE49E8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053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Human approves or rejects the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2A0A7-4EA7-4B18-8332-44AF424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572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6469B-C8D9-4C7F-949D-40D81B4E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57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82A42-4454-42DF-9962-B736EA0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05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605D8-D03C-49E1-B8E8-9AA5F58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48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EFDB1-A768-4725-8626-8ED627A7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482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Only approved content becomes an artifact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D218B-C8CA-4758-9593-6BD6FE8A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5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Rejected or invalid output is blocked; report artifacts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1438543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017B-43BD-4E77-9FC3-74D802AE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9EACA-99F2-4B86-B9AC-80CF9B4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A small, local-first application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710C7-2D21-4D93-82E8-0CEFF83B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The frontend calls a FastAPI service; SQLite stores contracts, sessions, actions, artifacts, changes, and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70A1D-49CE-4F3D-843B-0DB29A1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EA2F2-6CAA-4ACA-9F64-1142E5B3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DF7B-D1BA-4BEF-A5C8-2B81E953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CC323-17A6-4BF2-83BB-22A52FE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5BD41-C363-46FD-BC06-C3B668E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Command center • drift inspector •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7AA1D-A02D-480E-9A9E-0A7BA76C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00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CF601-D731-4F63-AD7B-2785B00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C5B95-B9D3-4FF5-A4DA-C25C6B5F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43FF1-6FAF-4372-954A-072C39BF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Project APIs • workflow •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DD1F2-A5D5-4FE0-9DF9-FFC0F56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14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900CA-5DD5-424C-91E4-14D4C27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A36E9-4DDD-4CBA-BDFC-9668284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16806-6A1F-401B-98A4-8A5E5E6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Current: Ollama • Planned: Groq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93014-084A-4D81-A244-FD29771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29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D66A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6A4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5727E-AC81-4BE5-94B7-9436361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52ADC-F720-4224-9866-5628133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SQLITE + FIXTURE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1D073-5AFB-4212-9F5F-D1CC117E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911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Durable state • synthetic cloud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CBD36-E937-4AAD-AD83-A157BB8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43250" cy="279082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223840"/>
          </a:solidFill>
          <a:ln xmlns:a="http://schemas.openxmlformats.org/drawingml/2006/main" w="0">
            <a:solidFill>
              <a:srgbClr val="2238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BBE6-2D03-4B6C-A39E-269C31A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431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IMPLEMENTATION 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A2FDF-BB09-4A82-8B0E-C830CFA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2686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 + SQLite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Next.js + React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Structured proposal schema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Contract version checks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Timeline events + recovery</a:t>
            </a:r>
          </a:p>
        </p:txBody>
      </p:sp>
    </p:spTree>
    <p:extLst>
      <p:ext uri="{BB962C8B-B14F-4D97-AF65-F5344CB8AC3E}">
        <p14:creationId xmlns:p14="http://schemas.microsoft.com/office/powerpoint/2010/main" val="40651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DD04C-587A-4D6D-B62F-E40B5C8A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05 /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0DA50-8913-49EC-B28C-B771490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Boundaries are checked in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EF02C-100B-44B7-A86B-F23F9E0F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The model drafts. Tether verifies authorization and evidence references, then waits for a human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61F6B-936E-4F82-A9D0-63D3D376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63568-FB83-41D1-A5A9-62E6AC20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AE398-1FD9-47F9-8AAD-CA114E7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09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F6AE9-8638-4C63-A1C4-C088A23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3BDBE-3BCA-4E7D-8372-292F005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5B0D7-B3EA-4D8B-A194-D005327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Contract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CD90B-6A9B-4B33-A4DB-A3BDB53D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622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Reject stale proposals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3FE19-84F6-47AE-9EFB-64AF6F8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3125"/>
            <a:ext cx="509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CA1C9-374B-4151-822B-8FBE3FA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71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A1330-9453-44D5-86D4-5F736F64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F55B4-7BD7-42DC-9212-0C3DEC58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Milestone + topic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F79EB-46DC-499F-AA08-0D52D91C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622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Keep work inside approved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7C716-0C5A-494A-9E8E-3A731EBA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509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363F8-14C1-45C9-88AF-761F42B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5FAD2-58FC-421F-A1A1-CF5E01A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F8477-4F95-4159-9493-707A7D3C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Reference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59391-90F4-423B-B0FA-C6338CD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290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Allow only supplied snapshot 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8FBFF-EAE8-46FB-9FBF-0B85A48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509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773D7-E872-42E9-A9B9-DB63A82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EB099-F186-4A0F-A980-380A941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28F4C-6604-4050-A19D-5EBCE55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Synthetic 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ED59C-C8A9-415B-B0CC-0980001D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290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Keep illustrative data clearly labeled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EB9E6-94F9-4901-BB82-B94AC919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509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6FF80-FB18-47C3-96E6-364BDE95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65ADA-979A-4E75-8C60-63977C02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9BC705-1AF3-4B6B-91D2-55F3F78C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0439B-05A0-484C-97AA-643A72B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Approve or reject before report commit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1BDB4-7281-44CD-BE7C-E19636B2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572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7E8DC"/>
          </a:solidFill>
          <a:ln xmlns:a="http://schemas.openxmlformats.org/drawingml/2006/main" w="0">
            <a:solidFill>
              <a:srgbClr val="F7E8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EA41AF-F9AC-4988-95D1-B612B7B0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72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A45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452E"/>
                </a:solidFill>
                <a:latin typeface="Aptos"/>
                <a:ea typeface="Aptos"/>
                <a:cs typeface="Aptos"/>
              </a:rPr>
              <a:t>Current boundary: schema and reference checks do not replace content-level evidence validation.</a:t>
            </a:r>
          </a:p>
        </p:txBody>
      </p:sp>
    </p:spTree>
    <p:extLst>
      <p:ext uri="{BB962C8B-B14F-4D97-AF65-F5344CB8AC3E}">
        <p14:creationId xmlns:p14="http://schemas.microsoft.com/office/powerpoint/2010/main" val="1119404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76B0-C8D0-4571-9DC4-488295D7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06 / DEMO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83BB8-9B5C-46BD-ABA6-8B8A3BF5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comparison, with synthetic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41292-1F2D-4159-AF67-206B946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7C6"/>
                </a:solidFill>
                <a:latin typeface="Aptos"/>
                <a:ea typeface="Aptos"/>
                <a:cs typeface="Aptos"/>
              </a:rPr>
              <a:t>An example workflow for a startup comparing cost and deployment simplicity across AWS, Azure, and Google Cloud.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07CAB-ECB9-4638-9C2F-E8B83451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19494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672F9-67FE-45F6-9FC1-69B7F9A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36CFB-DB1E-4AEE-BA2A-6841650D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AD27E-9208-4C1D-8208-CE03000B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9A1E2-978C-4ED6-993A-F3DA9B33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35 cost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615B4-D01B-4F67-8948-2EBD5CE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4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5 setup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639D8-7BDD-4F09-969B-F724AAC0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8D317-7182-4052-99F0-0ABD483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46551-CA1B-4B5D-B3C4-D65AE97F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 cost units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BEE96-76F5-4576-AD66-40B7CBE7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24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4 setup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28CF1-AE0F-4A51-AFB9-DE70F4F7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F6891-A512-472C-88AF-CEAC6D1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GOOGLE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38690-21BE-4333-AF30-E74FE894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32 cost units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6B17D-23E8-48D8-BE7E-56EC4F1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24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3 setup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D9C2C-F152-4417-8110-323165E5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These are illustrative workload units from the checked-in fixture—not current vendor prices.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E64A2-1692-4862-9177-0C264FD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Workflow milestones: costs → deployment → comparison table → recommendation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7A0DE-BDF5-49E6-A58A-EA02C9FD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Every report section must cite fixture record IDs and include SYNTHETIC_DEMONSTRATION.</a:t>
            </a:r>
          </a:p>
        </p:txBody>
      </p:sp>
    </p:spTree>
    <p:extLst>
      <p:ext uri="{BB962C8B-B14F-4D97-AF65-F5344CB8AC3E}">
        <p14:creationId xmlns:p14="http://schemas.microsoft.com/office/powerpoint/2010/main" val="335316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B93A4-87C3-45A8-8DCE-19DA62C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07 / INFERENCE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63FE2-62F7-4087-BA14-A9BE5DE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Groq API is the target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734FD-08E0-41C5-B16C-419C53D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The checked-in backend still calls Ollama locally. The Groq provider switch is a next implementation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AA98C-1308-44BF-A9DB-FC51A75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C1888-A76C-45DF-A9C6-7C5338D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DB62A-46B2-4B10-93E1-77DDA0CB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762500" cy="25622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461B0-5F40-4D21-9E98-4D07755C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66B"/>
                </a:solidFill>
                <a:latin typeface="Aptos"/>
                <a:ea typeface="Aptos"/>
                <a:cs typeface="Aptos"/>
              </a:rPr>
              <a:t>CURRENT IN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13E09-FF65-4D43-AC4D-5ED4D67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Ollama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5E57C-646B-422E-907F-B1246AD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POST /api/generate</a:t>
            </a:r>
          </a:p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OLLAMA_URL + OLLAMA_MODEL</a:t>
            </a:r>
          </a:p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Local model configured by 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0A6D5-A24A-4467-8DD2-30514BC7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762500" cy="25622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D9F3E9"/>
          </a:solidFill>
          <a:ln xmlns:a="http://schemas.openxmlformats.org/drawingml/2006/main" w="0">
            <a:solidFill>
              <a:srgbClr val="D9F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9F8E6-64A6-4F92-B77D-6CE8F031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677DA-0079-44EC-ACE0-F31B87A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860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Groq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DBDAB-F8CF-41B5-B8A4-5043CA6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57575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Groq-hosted inference</a:t>
            </a:r>
          </a:p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GROQ_API_KEY + model setting</a:t>
            </a:r>
          </a:p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Keep proposal schema + validation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5856D-1EBF-4E04-8037-E633191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Integration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F8EE3-393F-49A5-9BFA-E51E64B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1  Add server-side Groq client/config    2  Map structured output to Proposal schema    3  Keep secrets out of browser</a:t>
            </a:r>
          </a:p>
        </p:txBody>
      </p:sp>
    </p:spTree>
    <p:extLst>
      <p:ext uri="{BB962C8B-B14F-4D97-AF65-F5344CB8AC3E}">
        <p14:creationId xmlns:p14="http://schemas.microsoft.com/office/powerpoint/2010/main" val="927487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2F404-5815-410A-A10B-1E2BE651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08 /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1D70-4646-45CF-BE91-7BF7453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working prototype to dependable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53EE0-9E98-4CA4-AF2D-6383566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8C7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7C6"/>
                </a:solidFill>
                <a:latin typeface="Aptos"/>
                <a:ea typeface="Aptos"/>
                <a:cs typeface="Aptos"/>
              </a:rPr>
              <a:t>Prioritize the provider change, then strengthen the quality checks and observability.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6F61-3247-4F43-8DCE-58829F27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194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19494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9032F-887E-443D-8B7B-29A65AB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91CE9-1501-4BBE-ACC3-70381459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1F13B-8977-496B-8AF2-52CA959F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2FF7C-C7D7-48AF-BB14-49F316F4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Switch inference to Groq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0A4A6-1372-40B9-99A4-4B306C3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Add key/model config, request handling, and provider error states.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55A73-ED9E-4AD9-AA0C-C291886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86025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AE265-FC80-4621-93E6-6879F05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D4869-2DEC-4675-8D42-B9F8E58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content against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E7CE9-29BF-4DD4-AE53-B4543EB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Check that claims and numeric values are supported by cited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BD1EF-1957-4BE8-AE93-8BC4AA3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20373E"/>
          </a:solidFill>
          <a:ln xmlns:a="http://schemas.openxmlformats.org/drawingml/2006/main" w="0">
            <a:solidFill>
              <a:srgbClr val="2037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5EDA3-7B20-41DD-8F56-F144902B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A1B07-948E-4134-A91C-070E6F5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 real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1814F-D4BF-4C51-B6C6-46E9D772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9C9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C7"/>
                </a:solidFill>
                <a:latin typeface="Aptos"/>
                <a:ea typeface="Aptos"/>
                <a:cs typeface="Aptos"/>
              </a:rPr>
              <a:t>Integrate evaluator metrics and specialist handoffs; both are currently pending.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2EEA2-7739-4849-AD3E-2281720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Tether makes AI progress persistent, inspectable, and accountable.</a:t>
            </a:r>
          </a:p>
        </p:txBody>
      </p:sp>
    </p:spTree>
    <p:extLst>
      <p:ext uri="{BB962C8B-B14F-4D97-AF65-F5344CB8AC3E}">
        <p14:creationId xmlns:p14="http://schemas.microsoft.com/office/powerpoint/2010/main" val="202625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95781-8246-45B3-9AF5-F702A63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38B12-B886-4E16-A926-C9641BD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A durable goal for every agent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E8882-55A0-4F10-9976-49E0488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66B"/>
                </a:solidFill>
                <a:latin typeface="Aptos"/>
                <a:ea typeface="Aptos"/>
                <a:cs typeface="Aptos"/>
              </a:rPr>
              <a:t>Define the goal. Generate within scope. Review before progress becomes permanent.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645CA-D1E0-4166-A500-93391E57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87949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79493"/>
                </a:solidFill>
                <a:latin typeface="Aptos"/>
                <a:ea typeface="Aptos"/>
                <a:cs typeface="Aptos"/>
              </a:rPr>
              <a:t>TETHER  /  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919E1-C3B9-4254-9DF8-32BCEBE0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030D2-ED04-4810-B945-1D8E3E1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7E1C9-F901-4440-8400-7CDF0EE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7F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071"/>
                </a:solidFill>
                <a:latin typeface="Aptos"/>
                <a:ea typeface="Aptos"/>
                <a:cs typeface="Aptos"/>
              </a:rPr>
              <a:t>TETHER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43710-A8EA-4118-9319-97E3E4C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4802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the work aligned.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AFE20-8E21-4D27-A689-03272198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1D0C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1D0CE"/>
                </a:solidFill>
                <a:latin typeface="Aptos"/>
                <a:ea typeface="Aptos"/>
                <a:cs typeface="Aptos"/>
              </a:rPr>
              <a:t>Local-first workflow control, with Groq API as the planned inference provider.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FE449-D8A4-48FF-91BA-92882A57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PERSISTENT GOAL  •  SCOPED MILESTONES  •  HUMAN REVIEW</a:t>
            </a:r>
          </a:p>
        </p:txBody>
      </p:sp>
    </p:spTree>
    <p:extLst>
      <p:ext uri="{BB962C8B-B14F-4D97-AF65-F5344CB8AC3E}">
        <p14:creationId xmlns:p14="http://schemas.microsoft.com/office/powerpoint/2010/main" val="18326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2026-10-24T06:37:38.9820000Z</dcterms:created>
  <dcterms:modified xsi:type="dcterms:W3CDTF">2026-10-24T06:37:38.9820000Z</dcterms:modified>
</coreProperties>
</file>