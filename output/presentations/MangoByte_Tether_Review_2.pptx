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0b00b31d744c20" /><Relationship Type="http://schemas.openxmlformats.org/officeDocument/2006/relationships/extended-properties" Target="/docProps/app.xml" Id="Rc77ea90fbd014a97" /><Relationship Type="http://schemas.openxmlformats.org/officeDocument/2006/relationships/officeDocument" Target="/ppt/presentation.xml" Id="R80f53c68fed34259" /></Relationships>
</file>

<file path=ppt/presentation.xml><?xml version="1.0" encoding="utf-8"?>
<p:presentation xmlns:p="http://schemas.openxmlformats.org/presentationml/2006/main">
  <p:sldMasterIdLst>
    <p:sldMasterId xmlns:r="http://schemas.openxmlformats.org/officeDocument/2006/relationships" id="2147483648" r:id="R01c1531de36e4ae1"/>
  </p:sldMasterIdLst>
  <p:notesMasterIdLst>
    <p:notesMasterId xmlns:r="http://schemas.openxmlformats.org/officeDocument/2006/relationships" r:id="R9f6ce627816c4fca"/>
  </p:notesMasterIdLst>
  <p:sldIdLst>
    <p:sldId xmlns:r="http://schemas.openxmlformats.org/officeDocument/2006/relationships" id="256" r:id="R74082f779d614ec7"/>
    <p:sldId xmlns:r="http://schemas.openxmlformats.org/officeDocument/2006/relationships" id="257" r:id="Rbd18cb9d7a134ba6"/>
    <p:sldId xmlns:r="http://schemas.openxmlformats.org/officeDocument/2006/relationships" id="258" r:id="R4228a823077e486d"/>
    <p:sldId xmlns:r="http://schemas.openxmlformats.org/officeDocument/2006/relationships" id="259" r:id="R474941c151584289"/>
    <p:sldId xmlns:r="http://schemas.openxmlformats.org/officeDocument/2006/relationships" id="260" r:id="R1b5658b8b83c4467"/>
    <p:sldId xmlns:r="http://schemas.openxmlformats.org/officeDocument/2006/relationships" id="261" r:id="R82b6f59f735544ce"/>
    <p:sldId xmlns:r="http://schemas.openxmlformats.org/officeDocument/2006/relationships" id="262" r:id="R1c87c3e3a49c447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2f0f8390dbb4add" /><Relationship Type="http://schemas.openxmlformats.org/officeDocument/2006/relationships/slideMaster" Target="/ppt/slideMasters/slideMaster1.xml" Id="R01c1531de36e4ae1" /><Relationship Type="http://schemas.openxmlformats.org/officeDocument/2006/relationships/notesMaster" Target="/ppt/notesMasters/notesMaster1.xml" Id="R9f6ce627816c4fca" /><Relationship Type="http://schemas.openxmlformats.org/officeDocument/2006/relationships/presProps" Target="/ppt/presProps.xml" Id="Rf317461ca0e440e2" /><Relationship Type="http://schemas.openxmlformats.org/officeDocument/2006/relationships/viewProps" Target="/ppt/viewProps.xml" Id="Re7e022bbfe7f4bbd" /><Relationship Type="http://schemas.openxmlformats.org/officeDocument/2006/relationships/tableStyles" Target="/ppt/tableStyles.xml" Id="R1c18dc3bd1264ee8" /><Relationship Type="http://schemas.openxmlformats.org/officeDocument/2006/relationships/slide" Target="/ppt/slides/slide1.xml" Id="R74082f779d614ec7" /><Relationship Type="http://schemas.openxmlformats.org/officeDocument/2006/relationships/slide" Target="/ppt/slides/slide2.xml" Id="Rbd18cb9d7a134ba6" /><Relationship Type="http://schemas.openxmlformats.org/officeDocument/2006/relationships/slide" Target="/ppt/slides/slide3.xml" Id="R4228a823077e486d" /><Relationship Type="http://schemas.openxmlformats.org/officeDocument/2006/relationships/slide" Target="/ppt/slides/slide4.xml" Id="R474941c151584289" /><Relationship Type="http://schemas.openxmlformats.org/officeDocument/2006/relationships/slide" Target="/ppt/slides/slide5.xml" Id="R1b5658b8b83c4467" /><Relationship Type="http://schemas.openxmlformats.org/officeDocument/2006/relationships/slide" Target="/ppt/slides/slide6.xml" Id="R82b6f59f735544ce" /><Relationship Type="http://schemas.openxmlformats.org/officeDocument/2006/relationships/slide" Target="/ppt/slides/slide7.xml" Id="R1c87c3e3a49c44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43646ae6bd44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9d550bfa3d48ab" /><Relationship Type="http://schemas.openxmlformats.org/officeDocument/2006/relationships/notesMaster" Target="/ppt/notesMasters/notesMaster1.xml" Id="Rcffbc4662c5048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0b4379d1e1467f" /><Relationship Type="http://schemas.openxmlformats.org/officeDocument/2006/relationships/notesMaster" Target="/ppt/notesMasters/notesMaster1.xml" Id="R7762f29a498a4e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62edf46b8940c5" /><Relationship Type="http://schemas.openxmlformats.org/officeDocument/2006/relationships/notesMaster" Target="/ppt/notesMasters/notesMaster1.xml" Id="R36f4f2e8cc694d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f1a212aa034ac7" /><Relationship Type="http://schemas.openxmlformats.org/officeDocument/2006/relationships/notesMaster" Target="/ppt/notesMasters/notesMaster1.xml" Id="R6f95bbc53fc749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56c3e97d99473f" /><Relationship Type="http://schemas.openxmlformats.org/officeDocument/2006/relationships/notesMaster" Target="/ppt/notesMasters/notesMaster1.xml" Id="Rbc6fc035ee8e48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2e14aefd5b44a5" /><Relationship Type="http://schemas.openxmlformats.org/officeDocument/2006/relationships/notesMaster" Target="/ppt/notesMasters/notesMaster1.xml" Id="R367c56e2506c46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35d163f6be4ef8" /><Relationship Type="http://schemas.openxmlformats.org/officeDocument/2006/relationships/notesMaster" Target="/ppt/notesMasters/notesMaster1.xml" Id="R821fa9e19e234b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Tether is a persistent goal-enforcement workspace. Team MangoByte: Archit Nigam and Somyadeep Tarat. Review 2 status as of 24 October 2026. Sources: supplied Tether PRD and current repository README.md. The user-approved provider update supersedes the original Ollama-only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hypothesis is that external goal contracts and pre-action validation reduce unauthorized drift. This is a hypothesis, not a demonstrated benchmark win. Demonstration objective: compare AWS, Azure and GCP on cost and deployment simplicity using only supplied synthetic evidence. Sources: PRD; scenarios/cloud_comparison.json; shared/INTEGRATION.md.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Groq Free is the primary hosted provider; the configured default is openai/gpt-oss-20b. Ollama qwen3:4b is backup or explicit offline mode. Specialist sessions in the UI use local Ollama. FastAPI loads backend/.env and root .env; credentials remain backend-only and are excluded from Git and public telemetry. SQLite remains local. Sources: engine/llm_client.py; backend/config.py; backend/main.py; 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status comes from the current code, not only the planned PRD. Sequential specialists, checkpoints and lifecycle services are implemented and covered by automated tests. The current live Groq demonstration is a single Report Agent call. Source: engine/orchestrator.py; engine/executor.py; engine/state.py; tests/test_workflow.py; shared/INTEGRATION.md.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before this deck: 84 tests passed using python -m pytest -q --basetemp=backend/data/pytest-review2; npm run typecheck and npm run build passed. The saved live request used the Next.js API proxy, FastAPI and Groq openai/gpt-oss-20b. Its inference attempt took 1.085 seconds with no fallback. This is one inference-attempt measurement, not end-to-end latency or a benchmark. Output was schema-valid but received REVIEW because reference IDs were not visibly cited; no report artifact committed. Replaying the same action key during the current verification generated no new inference or action. Sources: docs/GROQ_INTEGRATION_CHECK.md; persisted Groq integration check project; screenshot captured from the actual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valid model response is distinct from a policy-approved artifact. REVIEW cannot currently be approved through the semantic workflow; user rejection is available. Deterministic keyword/evidence checks are conservative and do not prove complete semantic alignment. Synthetic fixture figures must not be represented as current pricing. Independent baseline grading and model-quality evaluation are pending. Sources: engine/validator.py; backend/main.py; scenarios/cloud_snapshot.json; docs/LIFECYCLE_UPDATE.md.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Completion sequence: first repair citation reliability and verify supported sections can commit; then implement auditable review resolution; then collect independent baseline/Tether runs under equivalent model and evidence conditions; finally rehearse initial work, drift pressure, approved serverless change and context-cleared recovery. Current integration fixes include backend environment loading and explicit Tether User-Agent for Groq gateway access. Sources: PRD four-session plan; docs/TEAMMATE_UPDATE.md; docs/GROQ_INTEGRATION_CHECK.md.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2e5a1dc3514c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5fea6eaa2945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7bb586540442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127f4867af41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76c0cf6ae649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b47ad32f784ff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82dcf6f41dc44c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5fe0f1c63164d9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fb7ff91db1c4f6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a177208580847a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39160f2f59d430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D49D927-87AF-E8DF-1BB7-DCCA915FCAD0}"/>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D2DA7F6B-2758-23AA-9851-74A65B560221}"/>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BFBDCE79-6A0A-0636-14FD-97D07C56DE4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5" name="Footer Placeholder 4">
            <a:extLst xmlns:a="http://schemas.openxmlformats.org/drawingml/2006/main">
              <a:ext uri="{FF2B5EF4-FFF2-40B4-BE49-F238E27FC236}">
                <a16:creationId xmlns:a16="http://schemas.microsoft.com/office/drawing/2014/main" id="{DB7A7C86-D6C6-79D1-4149-BFC97DB11F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B6EBB7-C486-D414-9832-D1829E44DA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83B228-8493-DFD5-FBB8-52EBEACF73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A3E86B3-7789-2251-75E8-28443145752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F664EFC-E054-4AAD-9933-A12BF96A3C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5" name="Footer Placeholder 4">
            <a:extLst xmlns:a="http://schemas.openxmlformats.org/drawingml/2006/main">
              <a:ext uri="{FF2B5EF4-FFF2-40B4-BE49-F238E27FC236}">
                <a16:creationId xmlns:a16="http://schemas.microsoft.com/office/drawing/2014/main" id="{95A9FC60-D65A-2397-C732-C5BADB2CB9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18D86CB-B1B1-DA2E-26E9-3FEBC0989B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F65D16-13C1-EC86-B92E-4910D9A924D0}"/>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1150A4F-082F-0F9F-E38E-F789FD1DD42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D0DE06A-273B-06FC-2C1F-BA93B040B1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5" name="Footer Placeholder 4">
            <a:extLst xmlns:a="http://schemas.openxmlformats.org/drawingml/2006/main">
              <a:ext uri="{FF2B5EF4-FFF2-40B4-BE49-F238E27FC236}">
                <a16:creationId xmlns:a16="http://schemas.microsoft.com/office/drawing/2014/main" id="{35D78EE8-EB67-478D-ACAB-C43BCFF893B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4FE150E-0F72-4711-96FD-D5C2D3F69B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DBA5E9-CA7A-F5E0-3173-0BEA9214AE3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846E1CC-7286-7B34-E128-808D42DA650D}"/>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3E134094-AD65-CC71-7552-D0187302A4F0}"/>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7C7834E-3EEF-3850-75AC-917BA384D8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6" name="Footer Placeholder 5">
            <a:extLst xmlns:a="http://schemas.openxmlformats.org/drawingml/2006/main">
              <a:ext uri="{FF2B5EF4-FFF2-40B4-BE49-F238E27FC236}">
                <a16:creationId xmlns:a16="http://schemas.microsoft.com/office/drawing/2014/main" id="{49838F01-6CEE-F3F5-6F17-FFACE978E4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9FD3134-3F52-62C9-BE5D-47C13FC2A9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5B8BC6-CF85-8A18-F366-5CF12679AA1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C87067-A36A-C5F0-0F26-23E45CD245AF}"/>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967A113-CD35-0365-F23F-7B7BF3E26EF7}"/>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282E704-2FD3-CD67-7BF2-B0A52A2FC66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1711E6F-C5E5-4C80-E2DF-837BC2D5C79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4EF4B8FF-24F9-E181-94A5-4111FED95D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8" name="Footer Placeholder 7">
            <a:extLst xmlns:a="http://schemas.openxmlformats.org/drawingml/2006/main">
              <a:ext uri="{FF2B5EF4-FFF2-40B4-BE49-F238E27FC236}">
                <a16:creationId xmlns:a16="http://schemas.microsoft.com/office/drawing/2014/main" id="{DF1C514A-2DD0-9161-8CEC-B730E35E7A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8B271BC-62A9-7496-1587-50D848AC00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F10D94-3601-3CFA-179C-B8689686E7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7454B267-4467-E3B0-332E-8CE335FBA0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4" name="Footer Placeholder 3">
            <a:extLst xmlns:a="http://schemas.openxmlformats.org/drawingml/2006/main">
              <a:ext uri="{FF2B5EF4-FFF2-40B4-BE49-F238E27FC236}">
                <a16:creationId xmlns:a16="http://schemas.microsoft.com/office/drawing/2014/main" id="{B9C6AF05-ACC9-62E3-36ED-A0D560EF08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2BE5A69-75E4-6BC0-AD3D-A01FB2F580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ADCCB01-0913-C761-774C-8D3ACF18F5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3" name="Footer Placeholder 2">
            <a:extLst xmlns:a="http://schemas.openxmlformats.org/drawingml/2006/main">
              <a:ext uri="{FF2B5EF4-FFF2-40B4-BE49-F238E27FC236}">
                <a16:creationId xmlns:a16="http://schemas.microsoft.com/office/drawing/2014/main" id="{38EB7D00-5356-89C6-71D1-62B8BF02E0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6F6CC57-3EC5-4B1B-1E8E-F0CAFBD766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1C50A8-94D2-904E-0F85-FF8BBA522DD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9B33E54-2251-EC37-732E-0D4A123FD3E6}"/>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B0ECA99-CDA4-C086-A0BB-2EF6D73E31A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1452B8F-6F2D-20CF-EFD4-9C07770F78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6" name="Footer Placeholder 5">
            <a:extLst xmlns:a="http://schemas.openxmlformats.org/drawingml/2006/main">
              <a:ext uri="{FF2B5EF4-FFF2-40B4-BE49-F238E27FC236}">
                <a16:creationId xmlns:a16="http://schemas.microsoft.com/office/drawing/2014/main" id="{C8D9A19D-70C0-F1CF-74E2-0D973DB535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9ADF85B-57A9-7C4E-915E-7C0E71B8B7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1057A5-05A2-63BC-2899-84AD4469C78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D0D8526D-06F0-60D2-DB2B-58964DF51424}"/>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F454833-2EB9-1A24-AEC8-5955BE3C8B4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A274E61-ED32-EB8F-4D2F-8E4AC1095F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6" name="Footer Placeholder 5">
            <a:extLst xmlns:a="http://schemas.openxmlformats.org/drawingml/2006/main">
              <a:ext uri="{FF2B5EF4-FFF2-40B4-BE49-F238E27FC236}">
                <a16:creationId xmlns:a16="http://schemas.microsoft.com/office/drawing/2014/main" id="{F6E312B3-DAD6-192A-B080-5EF2726106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95599E7-7FA4-EF68-689D-11B64049F5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9EFCAC-3083-55F3-32F7-AC31FA99FE6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9DE6C8A-0967-9324-CA1D-4E91063C572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17FB20E-17D2-6F2F-8B13-25AC698D68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5" name="Footer Placeholder 4">
            <a:extLst xmlns:a="http://schemas.openxmlformats.org/drawingml/2006/main">
              <a:ext uri="{FF2B5EF4-FFF2-40B4-BE49-F238E27FC236}">
                <a16:creationId xmlns:a16="http://schemas.microsoft.com/office/drawing/2014/main" id="{12F12E14-2BE7-9345-21B9-7BCAB845D5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BC6A4D9-9A5F-1102-6B63-F7F9224DFD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9DB3072-9797-3AFE-90A4-10F790A26ADC}"/>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6B63BE2-95D3-4412-6893-E1CE9D23192F}"/>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02CB5F3-3306-85B6-E6FD-68479626F2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DAEC5E-1E93-4122-A9F5-801D6E063950}" type="datetimeFigureOut">
              <a:t>24-10-2026</a:t>
            </a:fld>
            <a:endParaRPr/>
          </a:p>
        </p:txBody>
      </p:sp>
      <p:sp>
        <p:nvSpPr>
          <p:cNvPr id="5" name="Footer Placeholder 4">
            <a:extLst xmlns:a="http://schemas.openxmlformats.org/drawingml/2006/main">
              <a:ext uri="{FF2B5EF4-FFF2-40B4-BE49-F238E27FC236}">
                <a16:creationId xmlns:a16="http://schemas.microsoft.com/office/drawing/2014/main" id="{1564B3B6-7338-6F04-5BEF-FDBC0786CF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7DCD1A-6DE3-8456-84D4-C8475CE2DA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366375-BD5C-47BB-8EF8-2C12294A67E0}"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64ea67740947fa" /><Relationship Type="http://schemas.openxmlformats.org/officeDocument/2006/relationships/slideLayout" Target="/ppt/slideLayouts/slideLayout1.xml" Id="R5fa8f5cca95741d9" /><Relationship Type="http://schemas.openxmlformats.org/officeDocument/2006/relationships/slideLayout" Target="/ppt/slideLayouts/slideLayout2.xml" Id="Rb8c5c6529cda4f8d" /><Relationship Type="http://schemas.openxmlformats.org/officeDocument/2006/relationships/slideLayout" Target="/ppt/slideLayouts/slideLayout3.xml" Id="R3b861ae95bbc41ea" /><Relationship Type="http://schemas.openxmlformats.org/officeDocument/2006/relationships/slideLayout" Target="/ppt/slideLayouts/slideLayout4.xml" Id="Rd15cfd828c244b98" /><Relationship Type="http://schemas.openxmlformats.org/officeDocument/2006/relationships/slideLayout" Target="/ppt/slideLayouts/slideLayout5.xml" Id="R91b11d3845e24606" /><Relationship Type="http://schemas.openxmlformats.org/officeDocument/2006/relationships/slideLayout" Target="/ppt/slideLayouts/slideLayout6.xml" Id="Rec5cd9d0c01b43cb" /><Relationship Type="http://schemas.openxmlformats.org/officeDocument/2006/relationships/slideLayout" Target="/ppt/slideLayouts/slideLayout7.xml" Id="R779c173e57be4a28" /><Relationship Type="http://schemas.openxmlformats.org/officeDocument/2006/relationships/slideLayout" Target="/ppt/slideLayouts/slideLayout8.xml" Id="Rdab4517960724851" /><Relationship Type="http://schemas.openxmlformats.org/officeDocument/2006/relationships/slideLayout" Target="/ppt/slideLayouts/slideLayout9.xml" Id="Re7f175fa117f4f60" /><Relationship Type="http://schemas.openxmlformats.org/officeDocument/2006/relationships/slideLayout" Target="/ppt/slideLayouts/slideLayout10.xml" Id="R2580e1f7a1954e3d" /><Relationship Type="http://schemas.openxmlformats.org/officeDocument/2006/relationships/slideLayout" Target="/ppt/slideLayouts/slideLayout11.xml" Id="R61330415f613455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123F02A-84A0-FF5B-F13A-C9B48804E54E}"/>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2CFC018-6CA0-F904-DDCD-99C9D2BD0AE5}"/>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414087-07ED-9B02-93FF-8C694D77A0B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FEDAEC5E-1E93-4122-A9F5-801D6E063950}" type="datetimeFigureOut">
              <a:t>24-10-2026</a:t>
            </a:fld>
            <a:endParaRPr/>
          </a:p>
        </p:txBody>
      </p:sp>
      <p:sp>
        <p:nvSpPr>
          <p:cNvPr id="5" name="Footer Placeholder 4">
            <a:extLst xmlns:a="http://schemas.openxmlformats.org/drawingml/2006/main">
              <a:ext uri="{FF2B5EF4-FFF2-40B4-BE49-F238E27FC236}">
                <a16:creationId xmlns:a16="http://schemas.microsoft.com/office/drawing/2014/main" id="{4D1A2297-F230-B53D-4661-C83A10F65B70}"/>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5B50013-F1D7-893C-3359-281AF1ED4042}"/>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EF366375-BD5C-47BB-8EF8-2C12294A67E0}"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a8f5cca95741d9"/>
    <p:sldLayoutId xmlns:r="http://schemas.openxmlformats.org/officeDocument/2006/relationships" id="2147483650" r:id="Rb8c5c6529cda4f8d"/>
    <p:sldLayoutId xmlns:r="http://schemas.openxmlformats.org/officeDocument/2006/relationships" id="2147483651" r:id="R3b861ae95bbc41ea"/>
    <p:sldLayoutId xmlns:r="http://schemas.openxmlformats.org/officeDocument/2006/relationships" id="2147483652" r:id="Rd15cfd828c244b98"/>
    <p:sldLayoutId xmlns:r="http://schemas.openxmlformats.org/officeDocument/2006/relationships" id="2147483653" r:id="R91b11d3845e24606"/>
    <p:sldLayoutId xmlns:r="http://schemas.openxmlformats.org/officeDocument/2006/relationships" id="2147483654" r:id="Rec5cd9d0c01b43cb"/>
    <p:sldLayoutId xmlns:r="http://schemas.openxmlformats.org/officeDocument/2006/relationships" id="2147483655" r:id="R779c173e57be4a28"/>
    <p:sldLayoutId xmlns:r="http://schemas.openxmlformats.org/officeDocument/2006/relationships" id="2147483656" r:id="Rdab4517960724851"/>
    <p:sldLayoutId xmlns:r="http://schemas.openxmlformats.org/officeDocument/2006/relationships" id="2147483657" r:id="Re7f175fa117f4f60"/>
    <p:sldLayoutId xmlns:r="http://schemas.openxmlformats.org/officeDocument/2006/relationships" id="2147483658" r:id="R2580e1f7a1954e3d"/>
    <p:sldLayoutId xmlns:r="http://schemas.openxmlformats.org/officeDocument/2006/relationships" id="2147483659" r:id="R61330415f613455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8ed0feda6542d1" /><Relationship Type="http://schemas.openxmlformats.org/officeDocument/2006/relationships/notesSlide" Target="/ppt/notesSlides/notesSlide1.xml" Id="R5bc6e45a5e5e4d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920ee6a90094af5" /><Relationship Type="http://schemas.openxmlformats.org/officeDocument/2006/relationships/notesSlide" Target="/ppt/notesSlides/notesSlide2.xml" Id="R48b7a528a17d46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175118daa774b5e" /><Relationship Type="http://schemas.openxmlformats.org/officeDocument/2006/relationships/notesSlide" Target="/ppt/notesSlides/notesSlide3.xml" Id="R2660e171634042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a505ac7f59e4016" /><Relationship Type="http://schemas.openxmlformats.org/officeDocument/2006/relationships/notesSlide" Target="/ppt/notesSlides/notesSlide4.xml" Id="R98ab43837ac043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e1be41f4e1640dc" /><Relationship Type="http://schemas.openxmlformats.org/officeDocument/2006/relationships/image" Target="/ppt/media/image.jpeg" Id="R5e639757e85945fc" /><Relationship Type="http://schemas.openxmlformats.org/officeDocument/2006/relationships/notesSlide" Target="/ppt/notesSlides/notesSlide5.xml" Id="Rb693c61b399643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f37e2c3fec84853" /><Relationship Type="http://schemas.openxmlformats.org/officeDocument/2006/relationships/notesSlide" Target="/ppt/notesSlides/notesSlide6.xml" Id="R19110236f4d841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dca4aa106b4447c" /><Relationship Type="http://schemas.openxmlformats.org/officeDocument/2006/relationships/notesSlide" Target="/ppt/notesSlides/notesSlide7.xml" Id="Re344052a04f7445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ED6419-37C7-8452-6E39-C378985E0E95}"/>
              </a:ext>
            </a:extLst>
          </p:cNvPr>
          <p:cNvSpPr>
            <a:spLocks xmlns:a="http://schemas.openxmlformats.org/drawingml/2006/main" noGrp="1"/>
          </p:cNvSpPr>
          <p:nvPr>
            <p:ph type="ctrTitle" idx="0"/>
          </p:nvPr>
        </p:nvSpPr>
        <p:spPr/>
        <p:txBody>
          <a:bodyPr xmlns:a="http://schemas.openxmlformats.org/drawingml/2006/main" anchor="ctr">
            <a:noAutofit/>
          </a:bodyPr>
          <a:lstStyle xmlns:a="http://schemas.openxmlformats.org/drawingml/2006/main">
            <a:defPPr algn="ctr">
              <a:defRPr sz="6000">
                <a:solidFill>
                  <a:srgbClr val="000000"/>
                </a:solidFill>
                <a:latin typeface="Calibri Light"/>
                <a:ea typeface="Calibri Light"/>
                <a:cs typeface="Calibri Light"/>
              </a:defRPr>
            </a:defPPr>
            <a:lvl1pPr algn="ctr">
              <a:defRPr sz="6000">
                <a:solidFill>
                  <a:srgbClr val="000000"/>
                </a:solidFill>
                <a:latin typeface="Calibri Light"/>
                <a:ea typeface="Calibri Light"/>
                <a:cs typeface="Calibri Light"/>
              </a:defRPr>
            </a:lvl1pPr>
            <a:lvl2pPr algn="ctr">
              <a:defRPr sz="6000">
                <a:solidFill>
                  <a:srgbClr val="000000"/>
                </a:solidFill>
                <a:latin typeface="Calibri Light"/>
                <a:ea typeface="Calibri Light"/>
                <a:cs typeface="Calibri Light"/>
              </a:defRPr>
            </a:lvl2pPr>
            <a:lvl3pPr algn="ctr">
              <a:defRPr sz="6000">
                <a:solidFill>
                  <a:srgbClr val="000000"/>
                </a:solidFill>
                <a:latin typeface="Calibri Light"/>
                <a:ea typeface="Calibri Light"/>
                <a:cs typeface="Calibri Light"/>
              </a:defRPr>
            </a:lvl3pPr>
            <a:lvl4pPr algn="ctr">
              <a:defRPr sz="6000">
                <a:solidFill>
                  <a:srgbClr val="000000"/>
                </a:solidFill>
                <a:latin typeface="Calibri Light"/>
                <a:ea typeface="Calibri Light"/>
                <a:cs typeface="Calibri Light"/>
              </a:defRPr>
            </a:lvl4pPr>
            <a:lvl5pPr algn="ctr">
              <a:defRPr sz="6000">
                <a:solidFill>
                  <a:srgbClr val="000000"/>
                </a:solidFill>
                <a:latin typeface="Calibri Light"/>
                <a:ea typeface="Calibri Light"/>
                <a:cs typeface="Calibri Light"/>
              </a:defRPr>
            </a:lvl5pPr>
            <a:lvl6pPr algn="ctr">
              <a:defRPr sz="6000">
                <a:solidFill>
                  <a:srgbClr val="000000"/>
                </a:solidFill>
                <a:latin typeface="Calibri Light"/>
                <a:ea typeface="Calibri Light"/>
                <a:cs typeface="Calibri Light"/>
              </a:defRPr>
            </a:lvl6pPr>
            <a:lvl7pPr algn="ctr">
              <a:defRPr sz="6000">
                <a:solidFill>
                  <a:srgbClr val="000000"/>
                </a:solidFill>
                <a:latin typeface="Calibri Light"/>
                <a:ea typeface="Calibri Light"/>
                <a:cs typeface="Calibri Light"/>
              </a:defRPr>
            </a:lvl7pPr>
            <a:lvl8pPr algn="ctr">
              <a:defRPr sz="6000">
                <a:solidFill>
                  <a:srgbClr val="000000"/>
                </a:solidFill>
                <a:latin typeface="Calibri Light"/>
                <a:ea typeface="Calibri Light"/>
                <a:cs typeface="Calibri Light"/>
              </a:defRPr>
            </a:lvl8pPr>
            <a:lvl9pPr algn="ctr">
              <a:defRPr sz="6000">
                <a:solidFill>
                  <a:srgbClr val="000000"/>
                </a:solidFill>
                <a:latin typeface="Calibri Light"/>
                <a:ea typeface="Calibri Light"/>
                <a:cs typeface="Calibri Light"/>
              </a:defRPr>
            </a:lvl9pPr>
          </a:lstStyle>
          <a:p xmlns:a="http://schemas.openxmlformats.org/drawingml/2006/main">
            <a:pPr algn="ctr">
              <a:defRPr sz="6000">
                <a:solidFill>
                  <a:srgbClr val="000000"/>
                </a:solidFill>
                <a:latin typeface="Calibri Light"/>
                <a:ea typeface="Calibri Light"/>
                <a:cs typeface="Calibri Light"/>
              </a:defRPr>
            </a:pPr>
            <a:r>
              <a:rPr sz="6000">
                <a:solidFill>
                  <a:srgbClr val="000000"/>
                </a:solidFill>
                <a:latin typeface="Calibri Light"/>
                <a:ea typeface="Calibri Light"/>
                <a:cs typeface="Calibri Light"/>
              </a:rPr>
              <a:t>MangoByte</a:t>
            </a:r>
          </a:p>
          <a:p xmlns:a="http://schemas.openxmlformats.org/drawingml/2006/main">
            <a:pPr algn="ctr">
              <a:defRPr sz="6000">
                <a:solidFill>
                  <a:srgbClr val="000000"/>
                </a:solidFill>
                <a:latin typeface="Calibri Light"/>
                <a:ea typeface="Calibri Light"/>
                <a:cs typeface="Calibri Light"/>
              </a:defRPr>
            </a:pPr>
            <a:r>
              <a:rPr sz="6000">
                <a:solidFill>
                  <a:srgbClr val="000000"/>
                </a:solidFill>
                <a:latin typeface="Calibri Light"/>
                <a:ea typeface="Calibri Light"/>
                <a:cs typeface="Calibri Light"/>
              </a:rPr>
              <a:t>Tether</a:t>
            </a:r>
          </a:p>
        </p:txBody>
      </p:sp>
      <p:sp>
        <p:nvSpPr>
          <p:cNvPr id="3" name="Subtitle 2">
            <a:extLst xmlns:a="http://schemas.openxmlformats.org/drawingml/2006/main">
              <a:ext uri="{FF2B5EF4-FFF2-40B4-BE49-F238E27FC236}">
                <a16:creationId xmlns:a16="http://schemas.microsoft.com/office/drawing/2014/main" id="{A240FECA-A7D1-3CF5-F9D7-5F0E475BE9D5}"/>
              </a:ext>
            </a:extLst>
          </p:cNvPr>
          <p:cNvSpPr>
            <a:spLocks xmlns:a="http://schemas.openxmlformats.org/drawingml/2006/main" noGrp="1"/>
          </p:cNvSpPr>
          <p:nvPr>
            <p:ph type="subTitle" idx="1"/>
          </p:nvPr>
        </p:nvSpPr>
        <p:spPr/>
        <p:txBody>
          <a:bodyPr xmlns:a="http://schemas.openxmlformats.org/drawingml/2006/main" anchor="t">
            <a:noAutofit/>
          </a:bodyPr>
          <a:lstStyle xmlns:a="http://schemas.openxmlformats.org/drawingml/2006/main">
            <a:defPPr algn="ctr">
              <a:defRPr sz="2400">
                <a:solidFill>
                  <a:srgbClr val="000000"/>
                </a:solidFill>
                <a:latin typeface="Calibri"/>
                <a:ea typeface="Calibri"/>
                <a:cs typeface="Calibri"/>
              </a:defRPr>
            </a:defPPr>
            <a:lvl1pPr algn="ctr">
              <a:defRPr sz="2400">
                <a:solidFill>
                  <a:srgbClr val="000000"/>
                </a:solidFill>
                <a:latin typeface="Calibri"/>
                <a:ea typeface="Calibri"/>
                <a:cs typeface="Calibri"/>
              </a:defRPr>
            </a:lvl1pPr>
            <a:lvl2pPr algn="ctr">
              <a:defRPr sz="2400">
                <a:solidFill>
                  <a:srgbClr val="000000"/>
                </a:solidFill>
                <a:latin typeface="Calibri"/>
                <a:ea typeface="Calibri"/>
                <a:cs typeface="Calibri"/>
              </a:defRPr>
            </a:lvl2pPr>
            <a:lvl3pPr algn="ctr">
              <a:defRPr sz="2400">
                <a:solidFill>
                  <a:srgbClr val="000000"/>
                </a:solidFill>
                <a:latin typeface="Calibri"/>
                <a:ea typeface="Calibri"/>
                <a:cs typeface="Calibri"/>
              </a:defRPr>
            </a:lvl3pPr>
            <a:lvl4pPr algn="ctr">
              <a:defRPr sz="2400">
                <a:solidFill>
                  <a:srgbClr val="000000"/>
                </a:solidFill>
                <a:latin typeface="Calibri"/>
                <a:ea typeface="Calibri"/>
                <a:cs typeface="Calibri"/>
              </a:defRPr>
            </a:lvl4pPr>
            <a:lvl5pPr algn="ctr">
              <a:defRPr sz="2400">
                <a:solidFill>
                  <a:srgbClr val="000000"/>
                </a:solidFill>
                <a:latin typeface="Calibri"/>
                <a:ea typeface="Calibri"/>
                <a:cs typeface="Calibri"/>
              </a:defRPr>
            </a:lvl5pPr>
            <a:lvl6pPr algn="ctr">
              <a:defRPr sz="2400">
                <a:solidFill>
                  <a:srgbClr val="000000"/>
                </a:solidFill>
                <a:latin typeface="Calibri"/>
                <a:ea typeface="Calibri"/>
                <a:cs typeface="Calibri"/>
              </a:defRPr>
            </a:lvl6pPr>
            <a:lvl7pPr algn="ctr">
              <a:defRPr sz="2400">
                <a:solidFill>
                  <a:srgbClr val="000000"/>
                </a:solidFill>
                <a:latin typeface="Calibri"/>
                <a:ea typeface="Calibri"/>
                <a:cs typeface="Calibri"/>
              </a:defRPr>
            </a:lvl7pPr>
            <a:lvl8pPr algn="ctr">
              <a:defRPr sz="2400">
                <a:solidFill>
                  <a:srgbClr val="000000"/>
                </a:solidFill>
                <a:latin typeface="Calibri"/>
                <a:ea typeface="Calibri"/>
                <a:cs typeface="Calibri"/>
              </a:defRPr>
            </a:lvl8pPr>
            <a:lvl9pPr algn="ctr">
              <a:defRPr sz="2400">
                <a:solidFill>
                  <a:srgbClr val="000000"/>
                </a:solidFill>
                <a:latin typeface="Calibri"/>
                <a:ea typeface="Calibri"/>
                <a:cs typeface="Calibri"/>
              </a:defRPr>
            </a:lvl9pPr>
          </a:lstStyle>
          <a:p xmlns:a="http://schemas.openxmlformats.org/drawingml/2006/main">
            <a:pPr algn="ctr">
              <a:defRPr sz="2400">
                <a:solidFill>
                  <a:srgbClr val="000000"/>
                </a:solidFill>
                <a:latin typeface="Calibri"/>
                <a:ea typeface="Calibri"/>
                <a:cs typeface="Calibri"/>
              </a:defRPr>
            </a:pPr>
            <a:r>
              <a:rPr sz="2400">
                <a:solidFill>
                  <a:srgbClr val="000000"/>
                </a:solidFill>
                <a:latin typeface="Calibri"/>
                <a:ea typeface="Calibri"/>
                <a:cs typeface="Calibri"/>
              </a:rPr>
              <a:t>Persistent goal alignment across AI sessions</a:t>
            </a:r>
          </a:p>
          <a:p xmlns:a="http://schemas.openxmlformats.org/drawingml/2006/main">
            <a:pPr algn="ctr">
              <a:defRPr sz="2400">
                <a:solidFill>
                  <a:srgbClr val="000000"/>
                </a:solidFill>
                <a:latin typeface="Calibri"/>
                <a:ea typeface="Calibri"/>
                <a:cs typeface="Calibri"/>
              </a:defRPr>
            </a:pPr>
            <a:r>
              <a:rPr sz="2400">
                <a:solidFill>
                  <a:srgbClr val="000000"/>
                </a:solidFill>
                <a:latin typeface="Calibri"/>
                <a:ea typeface="Calibri"/>
                <a:cs typeface="Calibri"/>
              </a:rPr>
              <a:t>Archit Nigam  |  Somyadeep Tarat</a:t>
            </a:r>
          </a:p>
          <a:p xmlns:a="http://schemas.openxmlformats.org/drawingml/2006/main">
            <a:pPr algn="ctr">
              <a:defRPr sz="2400">
                <a:solidFill>
                  <a:srgbClr val="000000"/>
                </a:solidFill>
                <a:latin typeface="Calibri"/>
                <a:ea typeface="Calibri"/>
                <a:cs typeface="Calibri"/>
              </a:defRPr>
            </a:pPr>
            <a:r>
              <a:rPr sz="2400">
                <a:solidFill>
                  <a:srgbClr val="000000"/>
                </a:solidFill>
                <a:latin typeface="Calibri"/>
                <a:ea typeface="Calibri"/>
                <a:cs typeface="Calibri"/>
              </a:rPr>
              <a:t>Review 2  |  24 October 2026</a:t>
            </a:r>
          </a:p>
        </p:txBody>
      </p:sp>
    </p:spTree>
    <p:extLst>
      <p:ext uri="{BB962C8B-B14F-4D97-AF65-F5344CB8AC3E}">
        <p14:creationId xmlns:p14="http://schemas.microsoft.com/office/powerpoint/2010/main" val="302520073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0D350F-53DA-DEF2-A04F-0B58A5552E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Problem Statement &amp; Proposed Solution</a:t>
            </a:r>
          </a:p>
        </p:txBody>
      </p:sp>
      <p:sp>
        <p:nvSpPr>
          <p:cNvPr id="3" name="Content Placeholder 2">
            <a:extLst xmlns:a="http://schemas.openxmlformats.org/drawingml/2006/main">
              <a:ext uri="{FF2B5EF4-FFF2-40B4-BE49-F238E27FC236}">
                <a16:creationId xmlns:a16="http://schemas.microsoft.com/office/drawing/2014/main" id="{3571A14A-9598-C676-2B99-134311D4128B}"/>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defPPr algn="l">
              <a:defRPr sz="2800">
                <a:solidFill>
                  <a:srgbClr val="000000"/>
                </a:solidFill>
                <a:latin typeface="Calibri"/>
                <a:ea typeface="Calibri"/>
                <a:cs typeface="Calibri"/>
              </a:defRPr>
            </a:defPPr>
            <a:lvl1pPr algn="l">
              <a:defRPr sz="2800">
                <a:solidFill>
                  <a:srgbClr val="000000"/>
                </a:solidFill>
                <a:latin typeface="Calibri"/>
                <a:ea typeface="Calibri"/>
                <a:cs typeface="Calibri"/>
              </a:defRPr>
            </a:lvl1pPr>
            <a:lvl2pPr algn="l">
              <a:defRPr sz="2800">
                <a:solidFill>
                  <a:srgbClr val="000000"/>
                </a:solidFill>
                <a:latin typeface="Calibri"/>
                <a:ea typeface="Calibri"/>
                <a:cs typeface="Calibri"/>
              </a:defRPr>
            </a:lvl2pPr>
            <a:lvl3pPr algn="l">
              <a:defRPr sz="2800">
                <a:solidFill>
                  <a:srgbClr val="000000"/>
                </a:solidFill>
                <a:latin typeface="Calibri"/>
                <a:ea typeface="Calibri"/>
                <a:cs typeface="Calibri"/>
              </a:defRPr>
            </a:lvl3pPr>
            <a:lvl4pPr algn="l">
              <a:defRPr sz="2800">
                <a:solidFill>
                  <a:srgbClr val="000000"/>
                </a:solidFill>
                <a:latin typeface="Calibri"/>
                <a:ea typeface="Calibri"/>
                <a:cs typeface="Calibri"/>
              </a:defRPr>
            </a:lvl4pPr>
            <a:lvl5pPr algn="l">
              <a:defRPr sz="2800">
                <a:solidFill>
                  <a:srgbClr val="000000"/>
                </a:solidFill>
                <a:latin typeface="Calibri"/>
                <a:ea typeface="Calibri"/>
                <a:cs typeface="Calibri"/>
              </a:defRPr>
            </a:lvl5pPr>
            <a:lvl6pPr algn="l">
              <a:defRPr sz="2800">
                <a:solidFill>
                  <a:srgbClr val="000000"/>
                </a:solidFill>
                <a:latin typeface="Calibri"/>
                <a:ea typeface="Calibri"/>
                <a:cs typeface="Calibri"/>
              </a:defRPr>
            </a:lvl6pPr>
            <a:lvl7pPr algn="l">
              <a:defRPr sz="2800">
                <a:solidFill>
                  <a:srgbClr val="000000"/>
                </a:solidFill>
                <a:latin typeface="Calibri"/>
                <a:ea typeface="Calibri"/>
                <a:cs typeface="Calibri"/>
              </a:defRPr>
            </a:lvl7pPr>
            <a:lvl8pPr algn="l">
              <a:defRPr sz="2800">
                <a:solidFill>
                  <a:srgbClr val="000000"/>
                </a:solidFill>
                <a:latin typeface="Calibri"/>
                <a:ea typeface="Calibri"/>
                <a:cs typeface="Calibri"/>
              </a:defRPr>
            </a:lvl8pPr>
            <a:lvl9pPr algn="l">
              <a:defRPr sz="2800">
                <a:solidFill>
                  <a:srgbClr val="000000"/>
                </a:solidFill>
                <a:latin typeface="Calibri"/>
                <a:ea typeface="Calibri"/>
                <a:cs typeface="Calibri"/>
              </a:defRPr>
            </a:lvl9pPr>
          </a:lstStyle>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AI agents can lose constraints across long sessions, handoffs and restarts.</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Tether saves approved goals and milestones independently of chat history.</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Every proposed report section is checked before it changes a saved artifact.</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Explicit scope approval creates a new contract version; checkpoints restore progress.</a:t>
            </a:r>
          </a:p>
        </p:txBody>
      </p:sp>
    </p:spTree>
    <p:extLst>
      <p:ext uri="{BB962C8B-B14F-4D97-AF65-F5344CB8AC3E}">
        <p14:creationId xmlns:p14="http://schemas.microsoft.com/office/powerpoint/2010/main" val="15863965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D448D0F-140F-0D17-E881-C4CA1EBB71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Technology Stack &amp; Technical Approach</a:t>
            </a:r>
          </a:p>
        </p:txBody>
      </p:sp>
      <p:sp>
        <p:nvSpPr>
          <p:cNvPr id="3" name="Content Placeholder 2">
            <a:extLst xmlns:a="http://schemas.openxmlformats.org/drawingml/2006/main">
              <a:ext uri="{FF2B5EF4-FFF2-40B4-BE49-F238E27FC236}">
                <a16:creationId xmlns:a16="http://schemas.microsoft.com/office/drawing/2014/main" id="{728CA4F1-8790-0364-E8DA-5BB311A998E6}"/>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defPPr algn="l">
              <a:defRPr sz="2800">
                <a:solidFill>
                  <a:srgbClr val="000000"/>
                </a:solidFill>
                <a:latin typeface="Calibri"/>
                <a:ea typeface="Calibri"/>
                <a:cs typeface="Calibri"/>
              </a:defRPr>
            </a:defPPr>
            <a:lvl1pPr algn="l">
              <a:defRPr sz="2800">
                <a:solidFill>
                  <a:srgbClr val="000000"/>
                </a:solidFill>
                <a:latin typeface="Calibri"/>
                <a:ea typeface="Calibri"/>
                <a:cs typeface="Calibri"/>
              </a:defRPr>
            </a:lvl1pPr>
            <a:lvl2pPr algn="l">
              <a:defRPr sz="2800">
                <a:solidFill>
                  <a:srgbClr val="000000"/>
                </a:solidFill>
                <a:latin typeface="Calibri"/>
                <a:ea typeface="Calibri"/>
                <a:cs typeface="Calibri"/>
              </a:defRPr>
            </a:lvl2pPr>
            <a:lvl3pPr algn="l">
              <a:defRPr sz="2800">
                <a:solidFill>
                  <a:srgbClr val="000000"/>
                </a:solidFill>
                <a:latin typeface="Calibri"/>
                <a:ea typeface="Calibri"/>
                <a:cs typeface="Calibri"/>
              </a:defRPr>
            </a:lvl3pPr>
            <a:lvl4pPr algn="l">
              <a:defRPr sz="2800">
                <a:solidFill>
                  <a:srgbClr val="000000"/>
                </a:solidFill>
                <a:latin typeface="Calibri"/>
                <a:ea typeface="Calibri"/>
                <a:cs typeface="Calibri"/>
              </a:defRPr>
            </a:lvl4pPr>
            <a:lvl5pPr algn="l">
              <a:defRPr sz="2800">
                <a:solidFill>
                  <a:srgbClr val="000000"/>
                </a:solidFill>
                <a:latin typeface="Calibri"/>
                <a:ea typeface="Calibri"/>
                <a:cs typeface="Calibri"/>
              </a:defRPr>
            </a:lvl5pPr>
            <a:lvl6pPr algn="l">
              <a:defRPr sz="2800">
                <a:solidFill>
                  <a:srgbClr val="000000"/>
                </a:solidFill>
                <a:latin typeface="Calibri"/>
                <a:ea typeface="Calibri"/>
                <a:cs typeface="Calibri"/>
              </a:defRPr>
            </a:lvl6pPr>
            <a:lvl7pPr algn="l">
              <a:defRPr sz="2800">
                <a:solidFill>
                  <a:srgbClr val="000000"/>
                </a:solidFill>
                <a:latin typeface="Calibri"/>
                <a:ea typeface="Calibri"/>
                <a:cs typeface="Calibri"/>
              </a:defRPr>
            </a:lvl7pPr>
            <a:lvl8pPr algn="l">
              <a:defRPr sz="2800">
                <a:solidFill>
                  <a:srgbClr val="000000"/>
                </a:solidFill>
                <a:latin typeface="Calibri"/>
                <a:ea typeface="Calibri"/>
                <a:cs typeface="Calibri"/>
              </a:defRPr>
            </a:lvl8pPr>
            <a:lvl9pPr algn="l">
              <a:defRPr sz="2800">
                <a:solidFill>
                  <a:srgbClr val="000000"/>
                </a:solidFill>
                <a:latin typeface="Calibri"/>
                <a:ea typeface="Calibri"/>
                <a:cs typeface="Calibri"/>
              </a:defRPr>
            </a:lvl9pPr>
          </a:lstStyle>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Interface: Next.js, React, TypeScript, Tailwind CSS and Lucide icons.</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Backend: FastAPI and Pydantic connect typed requests to the Python engine.</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State: SQLite stores contracts, artifacts, checkpoints and audit history.</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Inference: Groq gpt-oss-20b, with Ollama qwen3:4b as local backup.</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Flow: proposal -&gt; validation -&gt; ALLOW, REVIEW or BLOCK -&gt; controlled commit.</a:t>
            </a:r>
          </a:p>
        </p:txBody>
      </p:sp>
    </p:spTree>
    <p:extLst>
      <p:ext uri="{BB962C8B-B14F-4D97-AF65-F5344CB8AC3E}">
        <p14:creationId xmlns:p14="http://schemas.microsoft.com/office/powerpoint/2010/main" val="28075024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FBC57C-9F46-27CE-029E-EA450C100D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Implementation Progress</a:t>
            </a:r>
          </a:p>
        </p:txBody>
      </p:sp>
      <p:sp>
        <p:nvSpPr>
          <p:cNvPr id="3" name="Content Placeholder 2">
            <a:extLst xmlns:a="http://schemas.openxmlformats.org/drawingml/2006/main">
              <a:ext uri="{FF2B5EF4-FFF2-40B4-BE49-F238E27FC236}">
                <a16:creationId xmlns:a16="http://schemas.microsoft.com/office/drawing/2014/main" id="{9F7A20EC-079B-1E35-5F9A-4D9ADAE2CAE3}"/>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defPPr algn="l">
              <a:defRPr sz="2800">
                <a:solidFill>
                  <a:srgbClr val="000000"/>
                </a:solidFill>
                <a:latin typeface="Calibri"/>
                <a:ea typeface="Calibri"/>
                <a:cs typeface="Calibri"/>
              </a:defRPr>
            </a:defPPr>
            <a:lvl1pPr algn="l">
              <a:defRPr sz="2800">
                <a:solidFill>
                  <a:srgbClr val="000000"/>
                </a:solidFill>
                <a:latin typeface="Calibri"/>
                <a:ea typeface="Calibri"/>
                <a:cs typeface="Calibri"/>
              </a:defRPr>
            </a:lvl1pPr>
            <a:lvl2pPr algn="l">
              <a:defRPr sz="2800">
                <a:solidFill>
                  <a:srgbClr val="000000"/>
                </a:solidFill>
                <a:latin typeface="Calibri"/>
                <a:ea typeface="Calibri"/>
                <a:cs typeface="Calibri"/>
              </a:defRPr>
            </a:lvl2pPr>
            <a:lvl3pPr algn="l">
              <a:defRPr sz="2800">
                <a:solidFill>
                  <a:srgbClr val="000000"/>
                </a:solidFill>
                <a:latin typeface="Calibri"/>
                <a:ea typeface="Calibri"/>
                <a:cs typeface="Calibri"/>
              </a:defRPr>
            </a:lvl3pPr>
            <a:lvl4pPr algn="l">
              <a:defRPr sz="2800">
                <a:solidFill>
                  <a:srgbClr val="000000"/>
                </a:solidFill>
                <a:latin typeface="Calibri"/>
                <a:ea typeface="Calibri"/>
                <a:cs typeface="Calibri"/>
              </a:defRPr>
            </a:lvl4pPr>
            <a:lvl5pPr algn="l">
              <a:defRPr sz="2800">
                <a:solidFill>
                  <a:srgbClr val="000000"/>
                </a:solidFill>
                <a:latin typeface="Calibri"/>
                <a:ea typeface="Calibri"/>
                <a:cs typeface="Calibri"/>
              </a:defRPr>
            </a:lvl5pPr>
            <a:lvl6pPr algn="l">
              <a:defRPr sz="2800">
                <a:solidFill>
                  <a:srgbClr val="000000"/>
                </a:solidFill>
                <a:latin typeface="Calibri"/>
                <a:ea typeface="Calibri"/>
                <a:cs typeface="Calibri"/>
              </a:defRPr>
            </a:lvl6pPr>
            <a:lvl7pPr algn="l">
              <a:defRPr sz="2800">
                <a:solidFill>
                  <a:srgbClr val="000000"/>
                </a:solidFill>
                <a:latin typeface="Calibri"/>
                <a:ea typeface="Calibri"/>
                <a:cs typeface="Calibri"/>
              </a:defRPr>
            </a:lvl7pPr>
            <a:lvl8pPr algn="l">
              <a:defRPr sz="2800">
                <a:solidFill>
                  <a:srgbClr val="000000"/>
                </a:solidFill>
                <a:latin typeface="Calibri"/>
                <a:ea typeface="Calibri"/>
                <a:cs typeface="Calibri"/>
              </a:defRPr>
            </a:lvl8pPr>
            <a:lvl9pPr algn="l">
              <a:defRPr sz="2800">
                <a:solidFill>
                  <a:srgbClr val="000000"/>
                </a:solidFill>
                <a:latin typeface="Calibri"/>
                <a:ea typeface="Calibri"/>
                <a:cs typeface="Calibri"/>
              </a:defRPr>
            </a:lvl9pPr>
          </a:lstStyle>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Dashboard: overview, action review, report artifacts and contract history.</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Engine: structured proposals, evidence checks and research/report handoffs.</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Lifecycle: approved scope changes, milestone confirmation and restart recovery.</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Integration: real Groq calls, safe provider telemetry and replay without duplicate commits.</a:t>
            </a:r>
          </a:p>
        </p:txBody>
      </p:sp>
    </p:spTree>
    <p:extLst>
      <p:ext uri="{BB962C8B-B14F-4D97-AF65-F5344CB8AC3E}">
        <p14:creationId xmlns:p14="http://schemas.microsoft.com/office/powerpoint/2010/main" val="20883163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2436A5-E0B9-8F42-C3CC-2793A7AB5D7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Initial Output/Results</a:t>
            </a:r>
          </a:p>
        </p:txBody>
      </p:sp>
      <p:sp>
        <p:nvSpPr>
          <p:cNvPr id="3" name="Content Placeholder 2">
            <a:extLst xmlns:a="http://schemas.openxmlformats.org/drawingml/2006/main">
              <a:ext uri="{FF2B5EF4-FFF2-40B4-BE49-F238E27FC236}">
                <a16:creationId xmlns:a16="http://schemas.microsoft.com/office/drawing/2014/main" id="{D2D981AE-A6C0-49D4-4036-CFE44B9EAF3C}"/>
              </a:ext>
            </a:extLst>
          </p:cNvPr>
          <p:cNvSpPr>
            <a:spLocks xmlns:a="http://schemas.openxmlformats.org/drawingml/2006/main" noGrp="1"/>
          </p:cNvSpPr>
          <p:nvPr>
            <p:ph idx="1"/>
          </p:nvPr>
        </p:nvSpPr>
        <p:spPr>
          <a:xfrm xmlns:a="http://schemas.openxmlformats.org/drawingml/2006/main">
            <a:off x="7753350" y="1866900"/>
            <a:ext cx="3600450" cy="4210050"/>
          </a:xfrm>
        </p:spPr>
        <p:txBody>
          <a:bodyPr xmlns:a="http://schemas.openxmlformats.org/drawingml/2006/main" anchor="t">
            <a:noAutofit/>
          </a:bodyPr>
          <a:lstStyle xmlns:a="http://schemas.openxmlformats.org/drawingml/2006/main">
            <a:defPPr algn="l">
              <a:defRPr sz="2550">
                <a:solidFill>
                  <a:srgbClr val="000000"/>
                </a:solidFill>
                <a:latin typeface="Calibri"/>
                <a:ea typeface="Calibri"/>
                <a:cs typeface="Calibri"/>
              </a:defRPr>
            </a:defPPr>
            <a:lvl1pPr algn="l">
              <a:defRPr sz="2550">
                <a:solidFill>
                  <a:srgbClr val="000000"/>
                </a:solidFill>
                <a:latin typeface="Calibri"/>
                <a:ea typeface="Calibri"/>
                <a:cs typeface="Calibri"/>
              </a:defRPr>
            </a:lvl1pPr>
            <a:lvl2pPr algn="l">
              <a:defRPr sz="2550">
                <a:solidFill>
                  <a:srgbClr val="000000"/>
                </a:solidFill>
                <a:latin typeface="Calibri"/>
                <a:ea typeface="Calibri"/>
                <a:cs typeface="Calibri"/>
              </a:defRPr>
            </a:lvl2pPr>
            <a:lvl3pPr algn="l">
              <a:defRPr sz="2550">
                <a:solidFill>
                  <a:srgbClr val="000000"/>
                </a:solidFill>
                <a:latin typeface="Calibri"/>
                <a:ea typeface="Calibri"/>
                <a:cs typeface="Calibri"/>
              </a:defRPr>
            </a:lvl3pPr>
            <a:lvl4pPr algn="l">
              <a:defRPr sz="2550">
                <a:solidFill>
                  <a:srgbClr val="000000"/>
                </a:solidFill>
                <a:latin typeface="Calibri"/>
                <a:ea typeface="Calibri"/>
                <a:cs typeface="Calibri"/>
              </a:defRPr>
            </a:lvl4pPr>
            <a:lvl5pPr algn="l">
              <a:defRPr sz="2550">
                <a:solidFill>
                  <a:srgbClr val="000000"/>
                </a:solidFill>
                <a:latin typeface="Calibri"/>
                <a:ea typeface="Calibri"/>
                <a:cs typeface="Calibri"/>
              </a:defRPr>
            </a:lvl5pPr>
            <a:lvl6pPr algn="l">
              <a:defRPr sz="2550">
                <a:solidFill>
                  <a:srgbClr val="000000"/>
                </a:solidFill>
                <a:latin typeface="Calibri"/>
                <a:ea typeface="Calibri"/>
                <a:cs typeface="Calibri"/>
              </a:defRPr>
            </a:lvl6pPr>
            <a:lvl7pPr algn="l">
              <a:defRPr sz="2550">
                <a:solidFill>
                  <a:srgbClr val="000000"/>
                </a:solidFill>
                <a:latin typeface="Calibri"/>
                <a:ea typeface="Calibri"/>
                <a:cs typeface="Calibri"/>
              </a:defRPr>
            </a:lvl7pPr>
            <a:lvl8pPr algn="l">
              <a:defRPr sz="2550">
                <a:solidFill>
                  <a:srgbClr val="000000"/>
                </a:solidFill>
                <a:latin typeface="Calibri"/>
                <a:ea typeface="Calibri"/>
                <a:cs typeface="Calibri"/>
              </a:defRPr>
            </a:lvl8pPr>
            <a:lvl9pPr algn="l">
              <a:defRPr sz="2550">
                <a:solidFill>
                  <a:srgbClr val="000000"/>
                </a:solidFill>
                <a:latin typeface="Calibri"/>
                <a:ea typeface="Calibri"/>
                <a:cs typeface="Calibri"/>
              </a:defRPr>
            </a:lvl9pPr>
          </a:lstStyle>
          <a:p xmlns:a="http://schemas.openxmlformats.org/drawingml/2006/main">
            <a:pPr marL="304800" indent="-177800" algn="l">
              <a:spcAft>
                <a:spcPts val="1400"/>
              </a:spcAft>
              <a:buChar char="•"/>
              <a:defRPr sz="2550">
                <a:solidFill>
                  <a:srgbClr val="000000"/>
                </a:solidFill>
                <a:latin typeface="Calibri"/>
                <a:ea typeface="Calibri"/>
                <a:cs typeface="Calibri"/>
              </a:defRPr>
            </a:pPr>
            <a:r>
              <a:rPr sz="2550">
                <a:solidFill>
                  <a:srgbClr val="000000"/>
                </a:solidFill>
                <a:latin typeface="Calibri"/>
                <a:ea typeface="Calibri"/>
                <a:cs typeface="Calibri"/>
              </a:rPr>
              <a:t>84 automated tests passed</a:t>
            </a:r>
          </a:p>
          <a:p xmlns:a="http://schemas.openxmlformats.org/drawingml/2006/main">
            <a:pPr marL="304800" indent="-177800" algn="l">
              <a:spcAft>
                <a:spcPts val="1400"/>
              </a:spcAft>
              <a:buChar char="•"/>
              <a:defRPr sz="2550">
                <a:solidFill>
                  <a:srgbClr val="000000"/>
                </a:solidFill>
                <a:latin typeface="Calibri"/>
                <a:ea typeface="Calibri"/>
                <a:cs typeface="Calibri"/>
              </a:defRPr>
            </a:pPr>
            <a:r>
              <a:rPr sz="2550">
                <a:solidFill>
                  <a:srgbClr val="000000"/>
                </a:solidFill>
                <a:latin typeface="Calibri"/>
                <a:ea typeface="Calibri"/>
                <a:cs typeface="Calibri"/>
              </a:rPr>
              <a:t>TypeScript and production build passed</a:t>
            </a:r>
          </a:p>
          <a:p xmlns:a="http://schemas.openxmlformats.org/drawingml/2006/main">
            <a:pPr marL="304800" indent="-177800" algn="l">
              <a:spcAft>
                <a:spcPts val="1400"/>
              </a:spcAft>
              <a:buChar char="•"/>
              <a:defRPr sz="2550">
                <a:solidFill>
                  <a:srgbClr val="000000"/>
                </a:solidFill>
                <a:latin typeface="Calibri"/>
                <a:ea typeface="Calibri"/>
                <a:cs typeface="Calibri"/>
              </a:defRPr>
            </a:pPr>
            <a:r>
              <a:rPr sz="2550">
                <a:solidFill>
                  <a:srgbClr val="000000"/>
                </a:solidFill>
                <a:latin typeface="Calibri"/>
                <a:ea typeface="Calibri"/>
                <a:cs typeface="Calibri"/>
              </a:rPr>
              <a:t>Live Groq: ~1.09 s inference attempt</a:t>
            </a:r>
          </a:p>
          <a:p xmlns:a="http://schemas.openxmlformats.org/drawingml/2006/main">
            <a:pPr marL="304800" indent="-177800" algn="l">
              <a:spcAft>
                <a:spcPts val="1400"/>
              </a:spcAft>
              <a:buChar char="•"/>
              <a:defRPr sz="2550">
                <a:solidFill>
                  <a:srgbClr val="000000"/>
                </a:solidFill>
                <a:latin typeface="Calibri"/>
                <a:ea typeface="Calibri"/>
                <a:cs typeface="Calibri"/>
              </a:defRPr>
            </a:pPr>
            <a:r>
              <a:rPr sz="2550">
                <a:solidFill>
                  <a:srgbClr val="000000"/>
                </a:solidFill>
                <a:latin typeface="Calibri"/>
                <a:ea typeface="Calibri"/>
                <a:cs typeface="Calibri"/>
              </a:rPr>
              <a:t>REVIEW; no artifact committed</a:t>
            </a:r>
          </a:p>
        </p:txBody>
      </p:sp>
      <p:pic>
        <p:nvPicPr>
          <p:cNvPr id="4" name="">
            <a:extLst xmlns:a="http://schemas.openxmlformats.org/drawingml/2006/main">
              <a:ext uri="{FF2B5EF4-FFF2-40B4-BE49-F238E27FC236}">
                <a16:creationId xmlns:a16="http://schemas.microsoft.com/office/drawing/2014/main" id="{0677F97C-DAEF-475A-BDB4-27744BC072B8}"/>
              </a:ext>
            </a:extLst>
          </p:cNvPr>
          <p:cNvPicPr>
            <a:picLocks xmlns:a="http://schemas.openxmlformats.org/drawingml/2006/main" noChangeAspect="1"/>
          </p:cNvPicPr>
          <p:nvPr/>
        </p:nvPicPr>
        <p:blipFill>
          <a:blip xmlns:r="http://schemas.openxmlformats.org/officeDocument/2006/relationships" xmlns:a="http://schemas.openxmlformats.org/drawingml/2006/main" r:embed="R5e639757e85945fc"/>
          <a:stretch xmlns:a="http://schemas.openxmlformats.org/drawingml/2006/main"/>
        </p:blipFill>
        <p:spPr>
          <a:xfrm xmlns:a="http://schemas.openxmlformats.org/drawingml/2006/main">
            <a:off x="838200" y="1898506"/>
            <a:ext cx="6572250" cy="3699164"/>
          </a:xfrm>
          <a:prstGeom xmlns:a="http://schemas.openxmlformats.org/drawingml/2006/main" prst="rect">
            <a:avLst/>
          </a:prstGeom>
        </p:spPr>
      </p:pic>
      <p:sp>
        <p:nvSpPr>
          <p:cNvPr id="5" name="Observed live outcome caption">
            <a:extLst xmlns:a="http://schemas.openxmlformats.org/drawingml/2006/main">
              <a:ext uri="{FF2B5EF4-FFF2-40B4-BE49-F238E27FC236}">
                <a16:creationId xmlns:a16="http://schemas.microsoft.com/office/drawing/2014/main" id="{35C3B7F0-69D7-44EA-A038-EF1CFF69D733}"/>
              </a:ext>
            </a:extLst>
          </p:cNvPr>
          <p:cNvSpPr>
            <a:spLocks xmlns:a="http://schemas.openxmlformats.org/drawingml/2006/main" noGrp="1"/>
          </p:cNvSpPr>
          <p:nvPr/>
        </p:nvSpPr>
        <p:spPr>
          <a:xfrm xmlns:a="http://schemas.openxmlformats.org/drawingml/2006/main">
            <a:off x="838200" y="58293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500">
                <a:solidFill>
                  <a:srgbClr val="000000"/>
                </a:solidFill>
                <a:latin typeface="Calibri"/>
                <a:ea typeface="Calibri"/>
                <a:cs typeface="Calibri"/>
              </a:defRPr>
            </a:defPPr>
            <a:lvl1pPr algn="l">
              <a:defRPr sz="1500">
                <a:solidFill>
                  <a:srgbClr val="000000"/>
                </a:solidFill>
                <a:latin typeface="Calibri"/>
                <a:ea typeface="Calibri"/>
                <a:cs typeface="Calibri"/>
              </a:defRPr>
            </a:lvl1pPr>
            <a:lvl2pPr algn="l">
              <a:defRPr sz="1500">
                <a:solidFill>
                  <a:srgbClr val="000000"/>
                </a:solidFill>
                <a:latin typeface="Calibri"/>
                <a:ea typeface="Calibri"/>
                <a:cs typeface="Calibri"/>
              </a:defRPr>
            </a:lvl2pPr>
            <a:lvl3pPr algn="l">
              <a:defRPr sz="1500">
                <a:solidFill>
                  <a:srgbClr val="000000"/>
                </a:solidFill>
                <a:latin typeface="Calibri"/>
                <a:ea typeface="Calibri"/>
                <a:cs typeface="Calibri"/>
              </a:defRPr>
            </a:lvl3pPr>
            <a:lvl4pPr algn="l">
              <a:defRPr sz="1500">
                <a:solidFill>
                  <a:srgbClr val="000000"/>
                </a:solidFill>
                <a:latin typeface="Calibri"/>
                <a:ea typeface="Calibri"/>
                <a:cs typeface="Calibri"/>
              </a:defRPr>
            </a:lvl4pPr>
            <a:lvl5pPr algn="l">
              <a:defRPr sz="1500">
                <a:solidFill>
                  <a:srgbClr val="000000"/>
                </a:solidFill>
                <a:latin typeface="Calibri"/>
                <a:ea typeface="Calibri"/>
                <a:cs typeface="Calibri"/>
              </a:defRPr>
            </a:lvl5pPr>
            <a:lvl6pPr algn="l">
              <a:defRPr sz="1500">
                <a:solidFill>
                  <a:srgbClr val="000000"/>
                </a:solidFill>
                <a:latin typeface="Calibri"/>
                <a:ea typeface="Calibri"/>
                <a:cs typeface="Calibri"/>
              </a:defRPr>
            </a:lvl6pPr>
            <a:lvl7pPr algn="l">
              <a:defRPr sz="1500">
                <a:solidFill>
                  <a:srgbClr val="000000"/>
                </a:solidFill>
                <a:latin typeface="Calibri"/>
                <a:ea typeface="Calibri"/>
                <a:cs typeface="Calibri"/>
              </a:defRPr>
            </a:lvl7pPr>
            <a:lvl8pPr algn="l">
              <a:defRPr sz="1500">
                <a:solidFill>
                  <a:srgbClr val="000000"/>
                </a:solidFill>
                <a:latin typeface="Calibri"/>
                <a:ea typeface="Calibri"/>
                <a:cs typeface="Calibri"/>
              </a:defRPr>
            </a:lvl8pPr>
            <a:lvl9pPr algn="l">
              <a:defRPr sz="1500">
                <a:solidFill>
                  <a:srgbClr val="000000"/>
                </a:solidFill>
                <a:latin typeface="Calibri"/>
                <a:ea typeface="Calibri"/>
                <a:cs typeface="Calibri"/>
              </a:defRPr>
            </a:lvl9pPr>
          </a:lstStyle>
          <a:p xmlns:a="http://schemas.openxmlformats.org/drawingml/2006/main">
            <a:pPr algn="l">
              <a:defRPr sz="1500">
                <a:solidFill>
                  <a:srgbClr val="000000"/>
                </a:solidFill>
                <a:latin typeface="Calibri"/>
                <a:ea typeface="Calibri"/>
                <a:cs typeface="Calibri"/>
              </a:defRPr>
            </a:pPr>
            <a:r>
              <a:rPr sz="1500">
                <a:solidFill>
                  <a:srgbClr val="000000"/>
                </a:solidFill>
                <a:latin typeface="Calibri"/>
                <a:ea typeface="Calibri"/>
                <a:cs typeface="Calibri"/>
              </a:rPr>
              <a:t>Actual Groq output: source IDs were not visibly cited. The validator kept the proposal uncommitted.</a:t>
            </a:r>
          </a:p>
        </p:txBody>
      </p:sp>
    </p:spTree>
    <p:extLst>
      <p:ext uri="{BB962C8B-B14F-4D97-AF65-F5344CB8AC3E}">
        <p14:creationId xmlns:p14="http://schemas.microsoft.com/office/powerpoint/2010/main" val="27859651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96894F-018C-9CFC-F72B-1FC9E301559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Challenges &amp; Limitations</a:t>
            </a:r>
          </a:p>
        </p:txBody>
      </p:sp>
      <p:sp>
        <p:nvSpPr>
          <p:cNvPr id="3" name="Content Placeholder 2">
            <a:extLst xmlns:a="http://schemas.openxmlformats.org/drawingml/2006/main">
              <a:ext uri="{FF2B5EF4-FFF2-40B4-BE49-F238E27FC236}">
                <a16:creationId xmlns:a16="http://schemas.microsoft.com/office/drawing/2014/main" id="{6CD9F3BE-F4FB-8D98-39A5-9F6E0812F8B1}"/>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defPPr algn="l">
              <a:defRPr sz="2800">
                <a:solidFill>
                  <a:srgbClr val="000000"/>
                </a:solidFill>
                <a:latin typeface="Calibri"/>
                <a:ea typeface="Calibri"/>
                <a:cs typeface="Calibri"/>
              </a:defRPr>
            </a:defPPr>
            <a:lvl1pPr algn="l">
              <a:defRPr sz="2800">
                <a:solidFill>
                  <a:srgbClr val="000000"/>
                </a:solidFill>
                <a:latin typeface="Calibri"/>
                <a:ea typeface="Calibri"/>
                <a:cs typeface="Calibri"/>
              </a:defRPr>
            </a:lvl1pPr>
            <a:lvl2pPr algn="l">
              <a:defRPr sz="2800">
                <a:solidFill>
                  <a:srgbClr val="000000"/>
                </a:solidFill>
                <a:latin typeface="Calibri"/>
                <a:ea typeface="Calibri"/>
                <a:cs typeface="Calibri"/>
              </a:defRPr>
            </a:lvl2pPr>
            <a:lvl3pPr algn="l">
              <a:defRPr sz="2800">
                <a:solidFill>
                  <a:srgbClr val="000000"/>
                </a:solidFill>
                <a:latin typeface="Calibri"/>
                <a:ea typeface="Calibri"/>
                <a:cs typeface="Calibri"/>
              </a:defRPr>
            </a:lvl3pPr>
            <a:lvl4pPr algn="l">
              <a:defRPr sz="2800">
                <a:solidFill>
                  <a:srgbClr val="000000"/>
                </a:solidFill>
                <a:latin typeface="Calibri"/>
                <a:ea typeface="Calibri"/>
                <a:cs typeface="Calibri"/>
              </a:defRPr>
            </a:lvl4pPr>
            <a:lvl5pPr algn="l">
              <a:defRPr sz="2800">
                <a:solidFill>
                  <a:srgbClr val="000000"/>
                </a:solidFill>
                <a:latin typeface="Calibri"/>
                <a:ea typeface="Calibri"/>
                <a:cs typeface="Calibri"/>
              </a:defRPr>
            </a:lvl5pPr>
            <a:lvl6pPr algn="l">
              <a:defRPr sz="2800">
                <a:solidFill>
                  <a:srgbClr val="000000"/>
                </a:solidFill>
                <a:latin typeface="Calibri"/>
                <a:ea typeface="Calibri"/>
                <a:cs typeface="Calibri"/>
              </a:defRPr>
            </a:lvl6pPr>
            <a:lvl7pPr algn="l">
              <a:defRPr sz="2800">
                <a:solidFill>
                  <a:srgbClr val="000000"/>
                </a:solidFill>
                <a:latin typeface="Calibri"/>
                <a:ea typeface="Calibri"/>
                <a:cs typeface="Calibri"/>
              </a:defRPr>
            </a:lvl7pPr>
            <a:lvl8pPr algn="l">
              <a:defRPr sz="2800">
                <a:solidFill>
                  <a:srgbClr val="000000"/>
                </a:solidFill>
                <a:latin typeface="Calibri"/>
                <a:ea typeface="Calibri"/>
                <a:cs typeface="Calibri"/>
              </a:defRPr>
            </a:lvl8pPr>
            <a:lvl9pPr algn="l">
              <a:defRPr sz="2800">
                <a:solidFill>
                  <a:srgbClr val="000000"/>
                </a:solidFill>
                <a:latin typeface="Calibri"/>
                <a:ea typeface="Calibri"/>
                <a:cs typeface="Calibri"/>
              </a:defRPr>
            </a:lvl9pPr>
          </a:lstStyle>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Citation completeness: the live Groq proposal omitted visible source IDs.</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Free-form semantic approval is pending; uncertain prose remains in REVIEW.</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Cloud-comparison values are synthetic, not current vendor prices.</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No independent baseline comparison or measured goal-drift improvement yet.</a:t>
            </a:r>
          </a:p>
        </p:txBody>
      </p:sp>
    </p:spTree>
    <p:extLst>
      <p:ext uri="{BB962C8B-B14F-4D97-AF65-F5344CB8AC3E}">
        <p14:creationId xmlns:p14="http://schemas.microsoft.com/office/powerpoint/2010/main" val="117351010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E54DB3-C34E-0883-F153-A660A7C47FF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Next Steps &amp; Completion Plan</a:t>
            </a:r>
          </a:p>
        </p:txBody>
      </p:sp>
      <p:sp>
        <p:nvSpPr>
          <p:cNvPr id="3" name="Content Placeholder 2">
            <a:extLst xmlns:a="http://schemas.openxmlformats.org/drawingml/2006/main">
              <a:ext uri="{FF2B5EF4-FFF2-40B4-BE49-F238E27FC236}">
                <a16:creationId xmlns:a16="http://schemas.microsoft.com/office/drawing/2014/main" id="{93C6F0DD-028E-1C68-920E-C5AD106B3D64}"/>
              </a:ext>
            </a:extLst>
          </p:cNvPr>
          <p:cNvSpPr>
            <a:spLocks xmlns:a="http://schemas.openxmlformats.org/drawingml/2006/main" noGrp="1"/>
          </p:cNvSpPr>
          <p:nvPr>
            <p:ph idx="1"/>
          </p:nvPr>
        </p:nvSpPr>
        <p:spPr/>
        <p:txBody>
          <a:bodyPr xmlns:a="http://schemas.openxmlformats.org/drawingml/2006/main" anchor="t">
            <a:noAutofit/>
          </a:bodyPr>
          <a:lstStyle xmlns:a="http://schemas.openxmlformats.org/drawingml/2006/main">
            <a:defPPr algn="l">
              <a:defRPr sz="2800">
                <a:solidFill>
                  <a:srgbClr val="000000"/>
                </a:solidFill>
                <a:latin typeface="Calibri"/>
                <a:ea typeface="Calibri"/>
                <a:cs typeface="Calibri"/>
              </a:defRPr>
            </a:defPPr>
            <a:lvl1pPr algn="l">
              <a:defRPr sz="2800">
                <a:solidFill>
                  <a:srgbClr val="000000"/>
                </a:solidFill>
                <a:latin typeface="Calibri"/>
                <a:ea typeface="Calibri"/>
                <a:cs typeface="Calibri"/>
              </a:defRPr>
            </a:lvl1pPr>
            <a:lvl2pPr algn="l">
              <a:defRPr sz="2800">
                <a:solidFill>
                  <a:srgbClr val="000000"/>
                </a:solidFill>
                <a:latin typeface="Calibri"/>
                <a:ea typeface="Calibri"/>
                <a:cs typeface="Calibri"/>
              </a:defRPr>
            </a:lvl2pPr>
            <a:lvl3pPr algn="l">
              <a:defRPr sz="2800">
                <a:solidFill>
                  <a:srgbClr val="000000"/>
                </a:solidFill>
                <a:latin typeface="Calibri"/>
                <a:ea typeface="Calibri"/>
                <a:cs typeface="Calibri"/>
              </a:defRPr>
            </a:lvl3pPr>
            <a:lvl4pPr algn="l">
              <a:defRPr sz="2800">
                <a:solidFill>
                  <a:srgbClr val="000000"/>
                </a:solidFill>
                <a:latin typeface="Calibri"/>
                <a:ea typeface="Calibri"/>
                <a:cs typeface="Calibri"/>
              </a:defRPr>
            </a:lvl4pPr>
            <a:lvl5pPr algn="l">
              <a:defRPr sz="2800">
                <a:solidFill>
                  <a:srgbClr val="000000"/>
                </a:solidFill>
                <a:latin typeface="Calibri"/>
                <a:ea typeface="Calibri"/>
                <a:cs typeface="Calibri"/>
              </a:defRPr>
            </a:lvl5pPr>
            <a:lvl6pPr algn="l">
              <a:defRPr sz="2800">
                <a:solidFill>
                  <a:srgbClr val="000000"/>
                </a:solidFill>
                <a:latin typeface="Calibri"/>
                <a:ea typeface="Calibri"/>
                <a:cs typeface="Calibri"/>
              </a:defRPr>
            </a:lvl6pPr>
            <a:lvl7pPr algn="l">
              <a:defRPr sz="2800">
                <a:solidFill>
                  <a:srgbClr val="000000"/>
                </a:solidFill>
                <a:latin typeface="Calibri"/>
                <a:ea typeface="Calibri"/>
                <a:cs typeface="Calibri"/>
              </a:defRPr>
            </a:lvl7pPr>
            <a:lvl8pPr algn="l">
              <a:defRPr sz="2800">
                <a:solidFill>
                  <a:srgbClr val="000000"/>
                </a:solidFill>
                <a:latin typeface="Calibri"/>
                <a:ea typeface="Calibri"/>
                <a:cs typeface="Calibri"/>
              </a:defRPr>
            </a:lvl8pPr>
            <a:lvl9pPr algn="l">
              <a:defRPr sz="2800">
                <a:solidFill>
                  <a:srgbClr val="000000"/>
                </a:solidFill>
                <a:latin typeface="Calibri"/>
                <a:ea typeface="Calibri"/>
                <a:cs typeface="Calibri"/>
              </a:defRPr>
            </a:lvl9pPr>
          </a:lstStyle>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Next: improve visible source citations in generated report sections.</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Then: add semantic review resolution while preserving hard validation blocks.</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Evaluate: use the same provider, model and fixture for baseline and Tether.</a:t>
            </a:r>
          </a:p>
          <a:p xmlns:a="http://schemas.openxmlformats.org/drawingml/2006/main">
            <a:pPr marL="304800" indent="-177800" algn="l">
              <a:spcAft>
                <a:spcPts val="1400"/>
              </a:spcAft>
              <a:buChar char="•"/>
              <a:defRPr sz="2800">
                <a:solidFill>
                  <a:srgbClr val="000000"/>
                </a:solidFill>
                <a:latin typeface="Calibri"/>
                <a:ea typeface="Calibri"/>
                <a:cs typeface="Calibri"/>
              </a:defRPr>
            </a:pPr>
            <a:r>
              <a:rPr sz="2800">
                <a:solidFill>
                  <a:srgbClr val="000000"/>
                </a:solidFill>
                <a:latin typeface="Calibri"/>
                <a:ea typeface="Calibri"/>
                <a:cs typeface="Calibri"/>
              </a:rPr>
              <a:t>Finish: rehearse four sessions, polish reporting and add a scoped demo reset.</a:t>
            </a:r>
          </a:p>
        </p:txBody>
      </p:sp>
    </p:spTree>
    <p:extLst>
      <p:ext uri="{BB962C8B-B14F-4D97-AF65-F5344CB8AC3E}">
        <p14:creationId xmlns:p14="http://schemas.microsoft.com/office/powerpoint/2010/main" val="110212538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2026-10-24T11:40:26.1110000Z</dcterms:created>
  <dcterms:modified xsi:type="dcterms:W3CDTF">2026-10-24T11:40:26.1110000Z</dcterms:modified>
</coreProperties>
</file>