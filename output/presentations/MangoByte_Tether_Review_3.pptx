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175d70f4544ae" /><Relationship Type="http://schemas.openxmlformats.org/officeDocument/2006/relationships/extended-properties" Target="/docProps/app.xml" Id="Rc640b059c71a4a54" /><Relationship Type="http://schemas.openxmlformats.org/officeDocument/2006/relationships/officeDocument" Target="/ppt/presentation.xml" Id="R21571b59381b41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2d4fdf5feb4877"/>
  </p:sldMasterIdLst>
  <p:notesMasterIdLst>
    <p:notesMasterId xmlns:r="http://schemas.openxmlformats.org/officeDocument/2006/relationships" r:id="R92ca9a224abf42ad"/>
  </p:notesMasterIdLst>
  <p:sldIdLst>
    <p:sldId xmlns:r="http://schemas.openxmlformats.org/officeDocument/2006/relationships" id="256" r:id="Rf6f7b32fa2034103"/>
    <p:sldId xmlns:r="http://schemas.openxmlformats.org/officeDocument/2006/relationships" id="257" r:id="R45baa461a6b34d15"/>
    <p:sldId xmlns:r="http://schemas.openxmlformats.org/officeDocument/2006/relationships" id="258" r:id="R62fa3ae207944513"/>
    <p:sldId xmlns:r="http://schemas.openxmlformats.org/officeDocument/2006/relationships" id="259" r:id="R7ffedf143836430b"/>
    <p:sldId xmlns:r="http://schemas.openxmlformats.org/officeDocument/2006/relationships" id="260" r:id="R12d91a8b742f476b"/>
    <p:sldId xmlns:r="http://schemas.openxmlformats.org/officeDocument/2006/relationships" id="261" r:id="R06a90e88679c4bb7"/>
    <p:sldId xmlns:r="http://schemas.openxmlformats.org/officeDocument/2006/relationships" id="262" r:id="R5982484b558b4f35"/>
    <p:sldId xmlns:r="http://schemas.openxmlformats.org/officeDocument/2006/relationships" id="263" r:id="R91e1080e5eda4c6e"/>
    <p:sldId xmlns:r="http://schemas.openxmlformats.org/officeDocument/2006/relationships" id="264" r:id="R8da95f007bfe484a"/>
    <p:sldId xmlns:r="http://schemas.openxmlformats.org/officeDocument/2006/relationships" id="265" r:id="R0b4cb1322d914f8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160bcf27a41e2" /><Relationship Type="http://schemas.openxmlformats.org/officeDocument/2006/relationships/slideMaster" Target="/ppt/slideMasters/slideMaster1.xml" Id="R5e2d4fdf5feb4877" /><Relationship Type="http://schemas.openxmlformats.org/officeDocument/2006/relationships/notesMaster" Target="/ppt/notesMasters/notesMaster1.xml" Id="R92ca9a224abf42ad" /><Relationship Type="http://schemas.openxmlformats.org/officeDocument/2006/relationships/presProps" Target="/ppt/presProps.xml" Id="R55ed249b86f54f22" /><Relationship Type="http://schemas.openxmlformats.org/officeDocument/2006/relationships/viewProps" Target="/ppt/viewProps.xml" Id="R76277f576a6a427f" /><Relationship Type="http://schemas.openxmlformats.org/officeDocument/2006/relationships/tableStyles" Target="/ppt/tableStyles.xml" Id="Re15515b960904d45" /><Relationship Type="http://schemas.openxmlformats.org/officeDocument/2006/relationships/slide" Target="/ppt/slides/slide1.xml" Id="Rf6f7b32fa2034103" /><Relationship Type="http://schemas.openxmlformats.org/officeDocument/2006/relationships/slide" Target="/ppt/slides/slide2.xml" Id="R45baa461a6b34d15" /><Relationship Type="http://schemas.openxmlformats.org/officeDocument/2006/relationships/slide" Target="/ppt/slides/slide3.xml" Id="R62fa3ae207944513" /><Relationship Type="http://schemas.openxmlformats.org/officeDocument/2006/relationships/slide" Target="/ppt/slides/slide4.xml" Id="R7ffedf143836430b" /><Relationship Type="http://schemas.openxmlformats.org/officeDocument/2006/relationships/slide" Target="/ppt/slides/slide5.xml" Id="R12d91a8b742f476b" /><Relationship Type="http://schemas.openxmlformats.org/officeDocument/2006/relationships/slide" Target="/ppt/slides/slide6.xml" Id="R06a90e88679c4bb7" /><Relationship Type="http://schemas.openxmlformats.org/officeDocument/2006/relationships/slide" Target="/ppt/slides/slide7.xml" Id="R5982484b558b4f35" /><Relationship Type="http://schemas.openxmlformats.org/officeDocument/2006/relationships/slide" Target="/ppt/slides/slide8.xml" Id="R91e1080e5eda4c6e" /><Relationship Type="http://schemas.openxmlformats.org/officeDocument/2006/relationships/slide" Target="/ppt/slides/slide9.xml" Id="R8da95f007bfe484a" /><Relationship Type="http://schemas.openxmlformats.org/officeDocument/2006/relationships/slide" Target="/ppt/slides/slide10.xml" Id="R0b4cb1322d914f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0b97abd1c549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101051ad884cbb" /><Relationship Type="http://schemas.openxmlformats.org/officeDocument/2006/relationships/notesMaster" Target="/ppt/notesMasters/notesMaster1.xml" Id="Rd1e7f5b611244f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8e7cc0da9b4aa9" /><Relationship Type="http://schemas.openxmlformats.org/officeDocument/2006/relationships/notesMaster" Target="/ppt/notesMasters/notesMaster1.xml" Id="R8ffed0aef06a4d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03cef8c634ba7" /><Relationship Type="http://schemas.openxmlformats.org/officeDocument/2006/relationships/notesMaster" Target="/ppt/notesMasters/notesMaster1.xml" Id="R3a03f73ece91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6eecb9002247b8" /><Relationship Type="http://schemas.openxmlformats.org/officeDocument/2006/relationships/notesMaster" Target="/ppt/notesMasters/notesMaster1.xml" Id="R3747ad3aa2cc44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050d9df2c74e1d" /><Relationship Type="http://schemas.openxmlformats.org/officeDocument/2006/relationships/notesMaster" Target="/ppt/notesMasters/notesMaster1.xml" Id="R94cb3e217a3a4a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68b575397d4c35" /><Relationship Type="http://schemas.openxmlformats.org/officeDocument/2006/relationships/notesMaster" Target="/ppt/notesMasters/notesMaster1.xml" Id="Rc0992b50f7b046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d2d7a223a840be" /><Relationship Type="http://schemas.openxmlformats.org/officeDocument/2006/relationships/notesMaster" Target="/ppt/notesMasters/notesMaster1.xml" Id="R798fc364a3894c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4e0ad38da44cc9" /><Relationship Type="http://schemas.openxmlformats.org/officeDocument/2006/relationships/notesMaster" Target="/ppt/notesMasters/notesMaster1.xml" Id="R5db99abe1f7644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9af4f493574010" /><Relationship Type="http://schemas.openxmlformats.org/officeDocument/2006/relationships/notesMaster" Target="/ppt/notesMasters/notesMaster1.xml" Id="R707d06aaa5644e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f5a6a4820c4f41" /><Relationship Type="http://schemas.openxmlformats.org/officeDocument/2006/relationships/notesMaster" Target="/ppt/notesMasters/notesMaster1.xml" Id="R869ccb8cfb2343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Tether is an Agentic AI project. Team and member names come from output/presentations/MangoByte_Tether_Review_2.pptx. Project description and current implementation: README.md. This review reflects repository evidence available on 25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and objectives: Tether_Final_PRD_v4.pdf as summarized in docs/PRD_CONTEXT.md; README.md. The initial evidence demonstration compares AWS, Azure and GCP for a startup, using supplied synthetic cost and deployment references. Tether seeks persistent goal enforcement. It does not yet establish comprehensive semantic correctness or a measured reduction in drift.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engine/schemas.py, engine/validator.py, engine/executor.py, engine/goal_evolution.py and docs/PULL_VERIFICATION.md. The key architectural distinction is that application-owned authorization and durable state sit outside the model context. Agents cannot approve themselves or override mandatory BLOCK checks. Exact supported quotations have a narrow automatic path. Free-form synthesis, comparison and recommendation require substantive review. Review approval revalidates the current contract, evidence and report revision transactionally.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frontend/components/workspace.tsx and frontend/lib/api.ts; backend/main.py, backend/store.py; engine/orchestrator.py, engine/research_agent.py, engine/report_agent.py, engine/handoff.py, engine/validator.py, engine/executor.py and engine/state.py. Sequential workflow: user creates a goal; backend claims durable workflow; Research proposes structured evidence; handoff gateway checks authorized sources; Report proposes content; validator yields ALLOW/REVIEW/BLOCK; approved artifact commits transactionally; source-complete milestone advances; next milestone starts. Browser closure does not stop backend execution. Process restart pauses interrupted work for explicit resume. A single report agent is also available. General requests use a separate single-agent draft path with no browsing or independent fact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frontend/package.json, pyproject.toml, backend/requirements.txt, README.md, engine/llm_client.py and engine/config.py. Current local verification on 25 October 2026: .venv/bin/python -m pytest -q --basetemp=.presentation-build/review3/pytest produced 133 passed and one Starlette/httpx deprecation warning in 1.76 seconds. Tests use isolated SQLite databases and scripted model/HTTP doubles, so this count is engineering verification rather than model quality. Frontend typecheck and production build results are recorded in docs/AUTOMATIC_WORKFLOW.md on 24 October 2026, not newly rerun for this deck. Both specialists now use the configured provider. Provider modes: Groq primary with eligible-failure backup, Groq-only for measured comparisons, or Ollama for explicit offline inference. Offline operation requires the local Ollama service and installed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backend/main.py, backend/store.py, engine/draft_agent.py, engine/validator.py, docs/AUTOMATIC_WORKFLOW.md and docs/LIFECYCLE_UPDATE.md. A revision creates a new proposal and keeps rejected versions. Milestones advance only when committed content covers all required sources. Scope expansion remains explicit: Add serverless comparison then Approve change creates immutable v2/M5. Action keys support idempotent replay. General drafts produce one concise response per proposal, contain UNVERIFIED_DRAFT, do not browse or verify current facts, and always need human review. The general draft route is a newer addition than the recorded guided-demo verification. Evaluation history stores actual proposal runs and remains empty until the evaluation CLI records data. New guided demonstration controls: frontend/components/demo-guide.tsx, backend/demo.py and docs/DEMO_WALKTHROUGH.md. The workflow demo guide can set up a four-milestone project and show scripted ALLOW/REVIEW/BLOCK examples through the actual validator without model calls. These samples use a separate contract and do not modify project history. Scripted examples are not live model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source: output/workflow-complete.png, a recorded local product screenshot from 24 October 2026. Supporting report: docs/AUTOMATIC_WORKFLOW.md. This is a recorded run, not a new live inference or a benchmark. The verified workflow used genuine Groq Research and Report calls. It committed cost and deployment sections automatically, blocked an invalid numerical declaration, retained a rejected recommendation that overstated deployment simplicity, then completed all four milestones after correction and human approval. The source descriptions do not establish a deployment-simplicity ranking. All cloud values are SYNTHETIC_DEMONSTRATION, not current vendor prices. On-stage demo: open http://127.0.0.1:3000, create a Cloud comparison project, show action validation and source evidence, approve only supported synthesis, show report and history, approve serverless change to v2/M5 if time allows, then demonstrate saved-state recovery. A page refresh is not a backend restart. A genuine process-restart demonstration requires stopping and restarting FastAPI, then resuming interrupted work. Do not loop on provider quota failures during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docs/PULL_VERIFICATION.md, docs/AUTOMATIC_WORKFLOW.md and scripts/evaluate.py. The current evaluation runner compares individual proposals using matched planner inputs and budgets. It does not complete the planned four-session comparative study. Baseline commits are simulated outside product artifacts. Arbitrary prose receives UNVERIFIED source fidelity. Zero commits yield N/A unauthorized rate. Future matched experiments should independently grade hard violations, active version compliance, source fidelity, milestone completion, handoff validity, restart recovery and latency overhead. No measured drift-reduction percentage is justified by the exploratory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engine/validator.py, engine/state.py and docs/AUTOMATIC_WORKFLOW.md. The project demonstrates application-owned enforcement, persistent goal versions and controlled commits. Engineering tests and a recorded successful workflow support implementation claims. Neither those tests nor the demonstration establish general model correctness, perfect drift detection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Track selection: Agentic AI. The template lists separate evidence requirements for AI/ML, Agentic AI, Edge AI and Blockchain-Based Finance. Tether meets the Agentic AI presentation scope, so this appendix maps the four applicable evidence categories. These requirements also appear on slides 4–7. Sources: README.md; engine/orchestrator.py, engine/handoff.py, engine/llm_client.py, engine/executor.py; backend/main.py; docs/AUTOMATIC_WORKFLOW.md. Failure handling: hard validation failure never triggers a policy bypass or provider switch. Eligible inference/network/rate-limit failures may use the configured local backup. Short Retry-After values receive one bounded hosted retry. Provider outages stop visibly. Review does not self-approve. SQLite claims serialize local steps, checkpoints retain durable state and repeated action keys do not duplicate commits. Comprehensive semantic evaluation remains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98e9b7f6244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9767d90c04a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c6c4b657846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82129d75446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f7083864944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9d752f4ee451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2d304474a449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a6a679cb8415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021c39d6840a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67b053a5446c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2c1c1795d42b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D1DA5B-7ECB-4079-5F9A-DBB1ADDF4C6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6DD0A0F-EFA8-510E-0B8E-031BB3D2F0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118411-667E-E62B-9634-C2CDB5A6C7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5496C8-AEE6-A6AC-F741-E3E607B296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CE5136-3349-C65A-007E-5FFA20939F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9A47E0-3479-1FFF-66CB-8ADBF78089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DBE71B6-19B8-2973-14EF-48BED682F8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B54A51-66C1-78EC-2C24-D543F3EB97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6948C-8336-EF66-BDEA-CB8A740325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D09E18-295E-A955-D4B6-A44546528E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47D7CE-D7C5-06EB-E006-01F801EE7D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F798467-82C6-2249-BE6A-176ABC94A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438352-A9F1-198B-4A46-B4697B9853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66F1E1-673F-07A0-5134-AC691EE421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44022E-8AE6-E877-0346-2CCF4B7522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695051-2C8A-542C-0B82-70D504CE49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EB2E66-6CF9-629E-04E0-2569039C7B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DBBA5C8-A563-677F-3698-079EBAE0D2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E3053B-7706-B504-1968-ECD89F7202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CF4D17-ABE8-60E5-382C-4B0EE4386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7B83080-DE80-FE40-2738-6A09A25CA9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885AE9-E4A6-FEBB-0E72-844D0A7A3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6C9F35-3135-13A4-578A-D469A78014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EDCBAA-8A20-35F6-D6AB-60052DC6F8F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D83836A-E936-891F-62D8-E6CB8633520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4225731-DC9A-FA4A-487D-38B6DE6A89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16FD5E-CB44-5846-EEA1-D1C8EA6849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08C876C-7FA4-0F77-EB25-C60B38EA05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3BE98D9-0355-2F19-FFB3-4A8A660EE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1CD9C3-14BF-2339-7C70-9B112E447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F431708-9339-693B-EB09-EE1495DCD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547F3EC-45D6-9C39-CFB5-1A70F58200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0E5E030-B9FE-3271-3B62-7D2795932D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BC90E6D-EE73-B225-FE42-436FE24B5F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C4B46A4-E200-04FD-C06E-86445B1ECF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DA37B18-6D51-B4B9-631C-1A570CA8E1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4E5808-F16B-15F6-62C5-42855053E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732DCD-9FC9-DC87-704D-1B1B8845CC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4A531E-69C7-8457-29A2-45BAE59849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C26F79D-BFC8-87C1-E768-BA1CC9CED5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44096D9-A490-154E-7FAE-DC37BD5141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7E565B4-C9A8-BCB7-0DED-CA00149D41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BF5190-91FB-C962-60DA-32C8D1FC8A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464B1AA-0120-E4C6-93F2-80B3CBC5CD0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17FD83A-5CDA-8BE9-FF98-4998E4129D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822CA48-F229-A07D-9C6D-2E7D0E6A77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0C3818-E1E4-257F-6759-ECF862255F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B12398-DA6E-0F1B-142C-8BB8504EAC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288704-F939-D9E4-C884-1C33A7F98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82B525-4FA9-E399-248F-A35CBFD41F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B9D146-5487-230E-0C7E-BFD028C8D3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DD055B-F109-7613-EB54-94C3A986E1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C92858-E304-2069-23F1-BA0DB58844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1FD0AB0-8D90-E6AA-E36C-56AFD3E0D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EDD837-5E29-D9CE-AE2F-94CDBEF1D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20D7E2-BD66-A2CA-E7B0-53A8C74039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300201-7B29-5046-F53D-A92B3E596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0695AF-C6B6-550F-8244-9859DE1F42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a8ac36f39446ed" /><Relationship Type="http://schemas.openxmlformats.org/officeDocument/2006/relationships/slideLayout" Target="/ppt/slideLayouts/slideLayout1.xml" Id="Rdb45e474b67c450a" /><Relationship Type="http://schemas.openxmlformats.org/officeDocument/2006/relationships/slideLayout" Target="/ppt/slideLayouts/slideLayout2.xml" Id="R1b7aa6a063f44784" /><Relationship Type="http://schemas.openxmlformats.org/officeDocument/2006/relationships/slideLayout" Target="/ppt/slideLayouts/slideLayout3.xml" Id="R501b13bb893b446c" /><Relationship Type="http://schemas.openxmlformats.org/officeDocument/2006/relationships/slideLayout" Target="/ppt/slideLayouts/slideLayout4.xml" Id="Rbb74a449e04c4ff3" /><Relationship Type="http://schemas.openxmlformats.org/officeDocument/2006/relationships/slideLayout" Target="/ppt/slideLayouts/slideLayout5.xml" Id="R136540407a404c9d" /><Relationship Type="http://schemas.openxmlformats.org/officeDocument/2006/relationships/slideLayout" Target="/ppt/slideLayouts/slideLayout6.xml" Id="Rae602ef6b5774ab7" /><Relationship Type="http://schemas.openxmlformats.org/officeDocument/2006/relationships/slideLayout" Target="/ppt/slideLayouts/slideLayout7.xml" Id="Rd0d2b380d5b5442f" /><Relationship Type="http://schemas.openxmlformats.org/officeDocument/2006/relationships/slideLayout" Target="/ppt/slideLayouts/slideLayout8.xml" Id="R22ed0dfd061a4eed" /><Relationship Type="http://schemas.openxmlformats.org/officeDocument/2006/relationships/slideLayout" Target="/ppt/slideLayouts/slideLayout9.xml" Id="R276729fed3104607" /><Relationship Type="http://schemas.openxmlformats.org/officeDocument/2006/relationships/slideLayout" Target="/ppt/slideLayouts/slideLayout10.xml" Id="R4895991d3cb84149" /><Relationship Type="http://schemas.openxmlformats.org/officeDocument/2006/relationships/slideLayout" Target="/ppt/slideLayouts/slideLayout11.xml" Id="Ra2e3f6bde0d04af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52D426D-04E8-09FB-B415-1C2AB0683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76019E-9E60-CC9C-B932-D09FBD203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DFAF81-9BA7-9F9E-6731-7FBA6413D63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516680D-D952-4AA2-9B84-7200A1BADF59}" type="datetimeFigureOut">
              <a:t>25-10-2026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86F043-7BB4-DBBE-6ABC-3E51496B12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CA5E84-EDC2-9BF8-F37C-75EFF9198D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AEA2B2F-CF39-4B2A-8626-7CC38AD3A10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45e474b67c450a"/>
    <p:sldLayoutId xmlns:r="http://schemas.openxmlformats.org/officeDocument/2006/relationships" id="2147483650" r:id="R1b7aa6a063f44784"/>
    <p:sldLayoutId xmlns:r="http://schemas.openxmlformats.org/officeDocument/2006/relationships" id="2147483651" r:id="R501b13bb893b446c"/>
    <p:sldLayoutId xmlns:r="http://schemas.openxmlformats.org/officeDocument/2006/relationships" id="2147483652" r:id="Rbb74a449e04c4ff3"/>
    <p:sldLayoutId xmlns:r="http://schemas.openxmlformats.org/officeDocument/2006/relationships" id="2147483653" r:id="R136540407a404c9d"/>
    <p:sldLayoutId xmlns:r="http://schemas.openxmlformats.org/officeDocument/2006/relationships" id="2147483654" r:id="Rae602ef6b5774ab7"/>
    <p:sldLayoutId xmlns:r="http://schemas.openxmlformats.org/officeDocument/2006/relationships" id="2147483655" r:id="Rd0d2b380d5b5442f"/>
    <p:sldLayoutId xmlns:r="http://schemas.openxmlformats.org/officeDocument/2006/relationships" id="2147483656" r:id="R22ed0dfd061a4eed"/>
    <p:sldLayoutId xmlns:r="http://schemas.openxmlformats.org/officeDocument/2006/relationships" id="2147483657" r:id="R276729fed3104607"/>
    <p:sldLayoutId xmlns:r="http://schemas.openxmlformats.org/officeDocument/2006/relationships" id="2147483658" r:id="R4895991d3cb84149"/>
    <p:sldLayoutId xmlns:r="http://schemas.openxmlformats.org/officeDocument/2006/relationships" id="2147483659" r:id="Ra2e3f6bde0d04af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016e7110d48b2" /><Relationship Type="http://schemas.openxmlformats.org/officeDocument/2006/relationships/notesSlide" Target="/ppt/notesSlides/notesSlide1.xml" Id="R5e2ec6df586e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55dbb7af5546e9" /><Relationship Type="http://schemas.openxmlformats.org/officeDocument/2006/relationships/notesSlide" Target="/ppt/notesSlides/notesSlide2.xml" Id="Ree3b782e31c04e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de209a0047401e" /><Relationship Type="http://schemas.openxmlformats.org/officeDocument/2006/relationships/notesSlide" Target="/ppt/notesSlides/notesSlide3.xml" Id="Reaeca754639148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f1800479ba4c30" /><Relationship Type="http://schemas.openxmlformats.org/officeDocument/2006/relationships/notesSlide" Target="/ppt/notesSlides/notesSlide4.xml" Id="R36ebedf907b240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68cafc4be24ff3" /><Relationship Type="http://schemas.openxmlformats.org/officeDocument/2006/relationships/notesSlide" Target="/ppt/notesSlides/notesSlide5.xml" Id="Rab4fd900e75948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1ea8a22bc478e" /><Relationship Type="http://schemas.openxmlformats.org/officeDocument/2006/relationships/notesSlide" Target="/ppt/notesSlides/notesSlide6.xml" Id="Rd4579f1589e648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d87e40616840dd" /><Relationship Type="http://schemas.openxmlformats.org/officeDocument/2006/relationships/image" Target="/ppt/media/image.jpeg" Id="Rfdbd32c2fbba4955" /><Relationship Type="http://schemas.openxmlformats.org/officeDocument/2006/relationships/notesSlide" Target="/ppt/notesSlides/notesSlide7.xml" Id="Ra7b22e19744947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a2216d08c64b6f" /><Relationship Type="http://schemas.openxmlformats.org/officeDocument/2006/relationships/notesSlide" Target="/ppt/notesSlides/notesSlide8.xml" Id="R35ad1e612d9a41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1042c951cd4d5c" /><Relationship Type="http://schemas.openxmlformats.org/officeDocument/2006/relationships/notesSlide" Target="/ppt/notesSlides/notesSlide9.xml" Id="Ra515b083675545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9da1cbc2f04239" /><Relationship Type="http://schemas.openxmlformats.org/officeDocument/2006/relationships/notesSlide" Target="/ppt/notesSlides/notesSlide10.xml" Id="Rb1d5eadc628c4f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ED6419-37C7-8452-6E39-C378985E0E9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MangoByte</a:t>
            </a:r>
          </a:p>
          <a:p xmlns:a="http://schemas.openxmlformats.org/drawingml/2006/main">
            <a:r>
              <a:t>Tether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240FECA-A7D1-3CF5-F9D7-5F0E475BE9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Persistent goal enforcement across AI sessions</a:t>
            </a:r>
          </a:p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Archit Nigam and Somyadeep Tarat</a:t>
            </a:r>
          </a:p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Review 3, 25 October 2026</a:t>
            </a:r>
          </a:p>
        </p:txBody>
      </p:sp>
    </p:spTree>
    <p:extLst>
      <p:ext uri="{BB962C8B-B14F-4D97-AF65-F5344CB8AC3E}">
        <p14:creationId xmlns:p14="http://schemas.microsoft.com/office/powerpoint/2010/main" val="30252007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69B0D8-705C-F785-CE62-868A6F7416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&amp; Objectives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3A09C3-B682-F5BE-31DB-A8285188D3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AI agents can lose the approved objective across long sessions, handoffs and restarts.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Preserve goals, constraints and milestones outside conversation history.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 proposed work before it changes a saved report.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Require human approval for scope changes and uncertain claims.</a:t>
            </a:r>
          </a:p>
        </p:txBody>
      </p:sp>
    </p:spTree>
    <p:extLst>
      <p:ext uri="{BB962C8B-B14F-4D97-AF65-F5344CB8AC3E}">
        <p14:creationId xmlns:p14="http://schemas.microsoft.com/office/powerpoint/2010/main" val="3476461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99C9E2-B17D-B1BA-9E76-A93B53C48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Solution &amp; Key Innovation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ECC1BC-FF59-B4F2-2FB1-4F8A3EA2899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versioned goal contract records the authorized objective, sources and allowed topics.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deterministic gateway checks identity, scope, evidence, numbers and declared effects.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ALLOW commits supported work. REVIEW needs a human decision. BLOCK stops the write.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Only approved changes create a new goal version. Earlier versions remain available.</a:t>
            </a:r>
          </a:p>
        </p:txBody>
      </p:sp>
    </p:spTree>
    <p:extLst>
      <p:ext uri="{BB962C8B-B14F-4D97-AF65-F5344CB8AC3E}">
        <p14:creationId xmlns:p14="http://schemas.microsoft.com/office/powerpoint/2010/main" val="19429566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BF6227-3DEA-8C7C-2074-A104BF076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Architecture &amp; Workflow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15CFC2-F176-E949-9858-C07C5694E3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Next.js dashboard sends project and review requests through FastAPI.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Research Agent prepares evidence. A validated handoff feeds the Report Agent.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gateway validates each proposal before controlled execution and report commit.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SQLite saves contracts, milestones, artifacts and checkpoints for the next session.</a:t>
            </a:r>
          </a:p>
        </p:txBody>
      </p:sp>
    </p:spTree>
    <p:extLst>
      <p:ext uri="{BB962C8B-B14F-4D97-AF65-F5344CB8AC3E}">
        <p14:creationId xmlns:p14="http://schemas.microsoft.com/office/powerpoint/2010/main" val="7660051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5FDFD-C117-F3E3-8ED3-D9F1AA6AB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Stack &amp; Implementation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4E08E8-9697-C2B5-6EE5-B379F440B26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Interface: Next.js, React, TypeScript and Tailwind CSS.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Backend: Python, FastAPI and Pydantic schemas. SQLite stores durable state.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Inference: Groq gpt-oss-20b primary, with Ollama qwen3:4b backup and offline mode.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Verification: 133 Python tests pass. Recorded frontend typecheck and build pass.</a:t>
            </a:r>
          </a:p>
        </p:txBody>
      </p:sp>
    </p:spTree>
    <p:extLst>
      <p:ext uri="{BB962C8B-B14F-4D97-AF65-F5344CB8AC3E}">
        <p14:creationId xmlns:p14="http://schemas.microsoft.com/office/powerpoint/2010/main" val="38816841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A367F9-C547-59EC-1A1B-A6064E9EB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Features &amp; Functionalities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D9F05A-3CAF-B2B2-37EA-B951366808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Automatic milestones, pause/resume and persistent recovery.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Review evidence, approve or reject work, and request revisions.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Versioned scope changes, audit history and replay without duplicate writes.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General drafts require review. A guided demo rehearses safety decisions.</a:t>
            </a:r>
          </a:p>
        </p:txBody>
      </p:sp>
    </p:spTree>
    <p:extLst>
      <p:ext uri="{BB962C8B-B14F-4D97-AF65-F5344CB8AC3E}">
        <p14:creationId xmlns:p14="http://schemas.microsoft.com/office/powerpoint/2010/main" val="17861187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83F462-10A5-E2A9-E9F9-38CBE530F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 / Working Prototype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256B1C-5853-B29D-9784-D28B33F207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AF0DF-5AEB-418F-95A5-5D471E16E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d32c2fbba4955"/>
          <a:stretch xmlns:a="http://schemas.openxmlformats.org/drawingml/2006/main"/>
        </p:blipFill>
        <p:spPr>
          <a:xfrm xmlns:a="http://schemas.openxmlformats.org/drawingml/2006/main">
            <a:off x="838200" y="1952625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51783-DA51-432A-BB37-6B6F4B10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337185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Create a cloud-comparison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Run Research and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Inspect a BLOCK, then review supported synthesis.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Show saved sections, goal history and recovery.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134DE-F4BB-4C0F-AD2B-EE4B4DF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defPPr>
            <a:lvl1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  <a:lvl2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2pPr>
            <a:lvl3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3pPr>
            <a:lvl4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4pPr>
            <a:lvl5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5pPr>
            <a:lvl6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6pPr>
            <a:lvl7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7pPr>
            <a:lvl8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8pPr>
            <a:lvl9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Recorded prototype, 24 Oct 2026: 4/4 milestones, 4 saved sections, 0 pending reviews</a:t>
            </a:r>
          </a:p>
          <a:p xmlns:a="http://schemas.openxmlformats.org/drawingml/2006/main">
            <a:pPr>
              <a:defRPr sz="165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Cloud reference data: SYNTHETIC_DEMONSTRATION</a:t>
            </a:r>
          </a:p>
        </p:txBody>
      </p:sp>
    </p:spTree>
    <p:extLst>
      <p:ext uri="{BB962C8B-B14F-4D97-AF65-F5344CB8AC3E}">
        <p14:creationId xmlns:p14="http://schemas.microsoft.com/office/powerpoint/2010/main" val="42276934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E82492-00A2-7FB4-B66B-D17C854A8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Scope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029E41-A195-23FC-428C-13A58C021F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Evaluate repeated, matched multi-session runs with and without enforcement.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Measure unauthorized commits, source fidelity, recovery and added latency.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Expand semantic drift detection beyond the current conservative rules.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Add broader evidence fixtures, richer evaluation charts and more integrations.</a:t>
            </a:r>
          </a:p>
        </p:txBody>
      </p:sp>
    </p:spTree>
    <p:extLst>
      <p:ext uri="{BB962C8B-B14F-4D97-AF65-F5344CB8AC3E}">
        <p14:creationId xmlns:p14="http://schemas.microsoft.com/office/powerpoint/2010/main" val="32666451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DECED3-35B1-3212-AC39-10960706F9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DE18D8-68C0-5493-F934-C67A080327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Tether preserves authorized goals and checks agent proposals before report writes.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prototype combines specialist execution, human review and persistent recovery.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recorded cloud-comparison run completed all four milestones with saved evidence.</a:t>
            </a:r>
          </a:p>
          <a:p xmlns:a="http://schemas.openxmlformats.org/drawingml/2006/main">
            <a:pPr marL="228600" indent="-228600">
              <a:spcAft>
                <a:spcPts val="1400"/>
              </a:spcAft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Broader semantic guarantees and multi-session improvement measurements remain open.</a:t>
            </a:r>
          </a:p>
        </p:txBody>
      </p:sp>
    </p:spTree>
    <p:extLst>
      <p:ext uri="{BB962C8B-B14F-4D97-AF65-F5344CB8AC3E}">
        <p14:creationId xmlns:p14="http://schemas.microsoft.com/office/powerpoint/2010/main" val="39661083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A92007-B009-3B7C-1CB8-958B2BF44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Agentic AI: Technical Evidence</a:t>
            </a:r>
          </a:p>
        </p:txBody>
      </p:sp>
      <p:graphicFrame>
        <p:nvGraphicFrame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318484-2D3F-4B82-9B8B-38A66C8C3269}"/>
              </a:ext>
            </a:extLst>
          </p:cNvPr>
          <p:cNvGraphicFramePr/>
          <p:nvPr/>
        </p:nvGraphicFramePr>
        <p:xfrm>
          <a:off xmlns:a="http://schemas.openxmlformats.org/drawingml/2006/main" x="838200" y="1885950"/>
          <a:ext xmlns:a="http://schemas.openxmlformats.org/drawingml/2006/main" cx="10515600" cy="409575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0071"/>
                <a:gridCol w="7735529"/>
              </a:tblGrid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Required evidence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Implemented evidence</a:t>
                      </a:r>
                    </a:p>
                  </a:txBody>
                  <a:tcPr marL="91440" marR="91440" marT="45720" marB="45720" anchor="ctr"/>
                </a:tc>
              </a:tr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Agent workflow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Sequential Research and Report, validated handoff, single-agent option</a:t>
                      </a:r>
                    </a:p>
                  </a:txBody>
                  <a:tcPr marL="91440" marR="91440" marT="45720" marB="45720" anchor="ctr"/>
                </a:tc>
              </a:tr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Tools and integrations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FastAPI, Pydantic, SQLite, Groq and Ollama</a:t>
                      </a:r>
                    </a:p>
                  </a:txBody>
                  <a:tcPr marL="91440" marR="91440" marT="45720" marB="45720" anchor="ctr"/>
                </a:tc>
              </a:tr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Task execution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Recorded run: 4 milestones complete and 4 sections saved</a:t>
                      </a:r>
                    </a:p>
                  </a:txBody>
                  <a:tcPr marL="91440" marR="91440" marT="45720" marB="45720" anchor="ctr"/>
                </a:tc>
              </a:tr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Failure handling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BLOCK stops writes, human REVIEW, bounded retry, backup and recovery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79616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2026-10-25T04:19:17.1870000Z</dcterms:created>
  <dcterms:modified xsi:type="dcterms:W3CDTF">2026-10-25T04:19:17.1870000Z</dcterms:modified>
</coreProperties>
</file>